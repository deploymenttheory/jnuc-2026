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Premise in one line: three Jamf Pro instances, 1,500+ resources, moved from click-ops to Terraform - and what it took to do that inside a bank.
Hand to introductions.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intros - name, role, and which part of the story each person tells.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bank - the constraints are the story. No CLI outside dev means no local applies and no local state: everything flows through VCS-triggered runs.
Point at the parity notes on the pipeline - staging drift drives both the prod-first decision and the staging rebuild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teams, one config surface. Splitting the repo by team would fragment ownership of shared dependencies like categories and scripts.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 8 is aimed squarely at Mac engineers new to Terraform: the contribution bar is "edit a map", not "write HCL from scratch".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 pushback on "not everything in Terraform" - defend it: troubleshooting must not require a pull request.
Tease the closing line: two more ideas got dropped later, and they show up where they happened in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Counterintuitive on purpose. Importing is read-then-manage - with a read-only API client there is no write surface, so prod-first is safer than it sounds.
Write scopes were only widened once imports were stable at zero diff.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tidy-up mattered - importing dead config would have codified years of cruft.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November 2025 - the first real state in the repo.
Mechanic: the apply sets the same values the UI shows; nothing changes, but the resource is now in state. All settings panes done in about a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the ban exists: Terraform runs the bank's whole public cloud - import blocks would let one workspace adopt someone else's resources. The policy is right; it just did not fit a sole-actor migration.
Each import window needed a fresh time-bound exception until the standing exception was granted.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matrix is a spreadsheet the team built together. Risk scales with dependency fan-in; policies sit on top of everything, so they close the migration.
Also considered migrating instance-by-instance - rejected in favour of one resource type at a time, end to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3 is the one people skip and regret - revoking write permissions makes the freeze real rather than polite.
Bulk waves ran December into January.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jamfpy is Joseph's open-source SDK. Each candidate got a script emitting a structured map, duplicates and all.
generate-config-out rejected: one block per resource; we wanted one block per type, driven by data.
AI use in one line: Copilot CLI validating configuration and dependency links.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technical centrepiece. One block per type; adding script two hundred is a one-line diff; reviews diff data, not boilerplate.
Division of labour: Gordon imported verbosely, Joseph refined in passes - dedup, name the IDs, share the locals - with a zero-diff plan after every pass, through February and March.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honesty slide: when the map is harder to read than plain HCL, the pattern has stopped paying for itself. Policies and dock items got plain HCL.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Gate 4 is the point of no return - and the point of the whole exercise.
State lives in HCP and is not locally inspectable, hence the Copilot CLI checks in gate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FQDN conditionals were everywhere by March - behaviour inferred from a URL.
The pivot: modules own configuration, thin per-instance roots own only genuine differences.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workspaces per instance is the blast radius control - guidance says ~500 resources per workspace and the estate holds 1,500+.
Payloads live in the modules too. Staging-only profiles sit in a visible directory, so divergence is explicit.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highlight - slow down here.
Importing staging would have enshrined years of drift. So: wipe (keep APNS and the cloud IdP), apply production's modules, iterate through the errors until clean. Parity is now inherited, not claimed.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estate as it stands: DevTest joined recently with a single CLI workspace, sandbox stepped out to CLI-only, and Release Please gave way to calendar versioning - releases findable by date when a flood of tickets lands.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April 2025 is the provider-development start; nothing was imported before November 2025. v1.0.0 landed May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floor. Keep the links slide ready as the backdrop for the walk-out.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provider and jamfpy repos; contact details.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image" Target="../media/image-20-3.png"/><Relationship Id="rId4" Type="http://schemas.openxmlformats.org/officeDocument/2006/relationships/image" Target="../media/image-20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524000"/>
            <a:ext cx="15716250" cy="9600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800"/>
              </a:lnSpc>
              <a:buNone/>
            </a:pPr>
            <a:r>
              <a:rPr lang="en-US" sz="6600" b="1" dirty="0">
                <a:solidFill>
                  <a:srgbClr val="0F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Clicks to Code</a:t>
            </a:r>
            <a:endParaRPr lang="en-US" sz="6600" dirty="0"/>
          </a:p>
        </p:txBody>
      </p:sp>
      <p:sp>
        <p:nvSpPr>
          <p:cNvPr id="3" name="Text 1"/>
          <p:cNvSpPr/>
          <p:nvPr/>
        </p:nvSpPr>
        <p:spPr>
          <a:xfrm>
            <a:off x="914400" y="2598390"/>
            <a:ext cx="15716250" cy="499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800"/>
              </a:lnSpc>
              <a:buNone/>
            </a:pPr>
            <a:r>
              <a:rPr lang="en-US" sz="3300" dirty="0">
                <a:solidFill>
                  <a:srgbClr val="0F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Migrating Jamf Pro to Terraform at Lloyds Banking Group</a:t>
            </a:r>
            <a:endParaRPr lang="en-US" sz="3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39100" y="4539630"/>
            <a:ext cx="9334500" cy="30803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8654430"/>
            <a:ext cx="6697578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Joseph Little · Gordon Deacon · Dafydd Watkins</a:t>
            </a:r>
            <a:endParaRPr lang="en-US" sz="2250" dirty="0"/>
          </a:p>
        </p:txBody>
      </p:sp>
      <p:sp>
        <p:nvSpPr>
          <p:cNvPr id="6" name="Text 3"/>
          <p:cNvSpPr/>
          <p:nvPr/>
        </p:nvSpPr>
        <p:spPr>
          <a:xfrm>
            <a:off x="914400" y="9144967"/>
            <a:ext cx="6697578" cy="3419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5B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Lloyds Banking Group</a:t>
            </a:r>
            <a:endParaRPr lang="en-US" sz="1650" dirty="0"/>
          </a:p>
        </p:txBody>
      </p:sp>
      <p:sp>
        <p:nvSpPr>
          <p:cNvPr id="7" name="Shape 4"/>
          <p:cNvSpPr/>
          <p:nvPr/>
        </p:nvSpPr>
        <p:spPr>
          <a:xfrm>
            <a:off x="14878794" y="8744917"/>
            <a:ext cx="2494806" cy="627683"/>
          </a:xfrm>
          <a:prstGeom prst="roundRect">
            <a:avLst>
              <a:gd name="adj" fmla="val 9105"/>
            </a:avLst>
          </a:prstGeom>
          <a:ln w="9525">
            <a:solidFill>
              <a:srgbClr val="5B6A64"/>
            </a:solidFill>
            <a:prstDash val="dash"/>
          </a:ln>
        </p:spPr>
      </p:sp>
      <p:sp>
        <p:nvSpPr>
          <p:cNvPr id="8" name="Text 5"/>
          <p:cNvSpPr/>
          <p:nvPr/>
        </p:nvSpPr>
        <p:spPr>
          <a:xfrm>
            <a:off x="15040719" y="8906842"/>
            <a:ext cx="2094756" cy="3419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5B6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placeholder-logo</a:t>
            </a:r>
            <a:endParaRPr lang="en-US" sz="1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8105120" cy="7086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103"/>
              </a:lnSpc>
              <a:buNone/>
            </a:pPr>
            <a:r>
              <a:rPr lang="en-US" sz="4800" b="1" dirty="0">
                <a:solidFill>
                  <a:srgbClr val="0F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we are</a:t>
            </a:r>
            <a:endParaRPr lang="en-US" sz="4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8105120" cy="7086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103"/>
              </a:lnSpc>
              <a:buNone/>
            </a:pPr>
            <a:r>
              <a:rPr lang="en-US" sz="4800" b="1" dirty="0">
                <a:solidFill>
                  <a:srgbClr val="0F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Context, requirements, constraints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914400" y="1965945"/>
            <a:ext cx="18105120" cy="3419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5B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precedent to follow - nobody had migrated a live, in-use Jamf Pro estate to Terraform at this scale before, let alone inside a bank.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914400" y="2422178"/>
            <a:ext cx="16459200" cy="1766813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04925" y="2660303"/>
            <a:ext cx="17245965" cy="3419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5B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estate at the start - three Jamf Pro instances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1304925" y="3116535"/>
            <a:ext cx="1680567" cy="834330"/>
          </a:xfrm>
          <a:prstGeom prst="roundRect">
            <a:avLst>
              <a:gd name="adj" fmla="val 6850"/>
            </a:avLst>
          </a:prstGeom>
          <a:solidFill>
            <a:srgbClr val="F6F8F7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43050" y="3240360"/>
            <a:ext cx="1280517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27941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Sandbox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482834" y="3616598"/>
            <a:ext cx="1324749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27317"/>
              </a:lnSpc>
              <a:buNone/>
            </a:pPr>
            <a:r>
              <a:rPr lang="en-US" sz="1350" dirty="0">
                <a:solidFill>
                  <a:srgbClr val="5B6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parity</a:t>
            </a:r>
            <a:endParaRPr lang="en-US" sz="13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214092" y="3438451"/>
            <a:ext cx="381000" cy="1905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3823692" y="3116535"/>
            <a:ext cx="2024583" cy="834330"/>
          </a:xfrm>
          <a:prstGeom prst="roundRect">
            <a:avLst>
              <a:gd name="adj" fmla="val 6850"/>
            </a:avLst>
          </a:prstGeom>
          <a:solidFill>
            <a:srgbClr val="F6F8F7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233788" y="3240360"/>
            <a:ext cx="1280517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27941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Staging</a:t>
            </a:r>
            <a:endParaRPr lang="en-US" sz="2250" dirty="0"/>
          </a:p>
        </p:txBody>
      </p:sp>
      <p:sp>
        <p:nvSpPr>
          <p:cNvPr id="12" name="Text 9"/>
          <p:cNvSpPr/>
          <p:nvPr/>
        </p:nvSpPr>
        <p:spPr>
          <a:xfrm>
            <a:off x="3984401" y="3616598"/>
            <a:ext cx="1703167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27317"/>
              </a:lnSpc>
              <a:buNone/>
            </a:pPr>
            <a:r>
              <a:rPr lang="en-US" sz="1350" dirty="0">
                <a:solidFill>
                  <a:srgbClr val="5B6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parity on paper</a:t>
            </a:r>
            <a:endParaRPr lang="en-US" sz="13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76876" y="3438451"/>
            <a:ext cx="381000" cy="1905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686476" y="3116535"/>
            <a:ext cx="2196629" cy="834330"/>
          </a:xfrm>
          <a:prstGeom prst="roundRect">
            <a:avLst>
              <a:gd name="adj" fmla="val 6850"/>
            </a:avLst>
          </a:prstGeom>
          <a:solidFill>
            <a:srgbClr val="F6F8F7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924601" y="3240360"/>
            <a:ext cx="17965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27941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Production</a:t>
            </a:r>
            <a:endParaRPr lang="en-US" sz="2250" dirty="0"/>
          </a:p>
        </p:txBody>
      </p:sp>
      <p:sp>
        <p:nvSpPr>
          <p:cNvPr id="16" name="Text 12"/>
          <p:cNvSpPr/>
          <p:nvPr/>
        </p:nvSpPr>
        <p:spPr>
          <a:xfrm>
            <a:off x="6838582" y="3616598"/>
            <a:ext cx="1892417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27317"/>
              </a:lnSpc>
              <a:buNone/>
            </a:pPr>
            <a:r>
              <a:rPr lang="en-US" sz="1350" dirty="0">
                <a:solidFill>
                  <a:srgbClr val="5B6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real estate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914400" y="4417591"/>
            <a:ext cx="5384750" cy="1691580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152525" y="4655716"/>
            <a:ext cx="5070043" cy="12534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hardcoded secrets, anywhere.</a:t>
            </a:r>
            <a:endParaRPr lang="en-US" sz="1650" dirty="0"/>
          </a:p>
        </p:txBody>
      </p:sp>
      <p:sp>
        <p:nvSpPr>
          <p:cNvPr id="19" name="Shape 15"/>
          <p:cNvSpPr/>
          <p:nvPr/>
        </p:nvSpPr>
        <p:spPr>
          <a:xfrm>
            <a:off x="6451550" y="4417591"/>
            <a:ext cx="5384825" cy="1691580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689675" y="4655716"/>
            <a:ext cx="5070120" cy="12534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production change gated by peer review.</a:t>
            </a:r>
            <a:endParaRPr lang="en-US" sz="1650" dirty="0"/>
          </a:p>
        </p:txBody>
      </p:sp>
      <p:sp>
        <p:nvSpPr>
          <p:cNvPr id="21" name="Shape 17"/>
          <p:cNvSpPr/>
          <p:nvPr/>
        </p:nvSpPr>
        <p:spPr>
          <a:xfrm>
            <a:off x="11988775" y="4417591"/>
            <a:ext cx="5384750" cy="1691580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2226900" y="4655716"/>
            <a:ext cx="5070043" cy="12534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 with the bank's strategic tooling: GitHub, VCS-triggered Terraform runs, internally hosted HashiCorp Vault, HCP Terraform for remote state and run execution on HCP private runners.</a:t>
            </a:r>
            <a:endParaRPr lang="en-US" sz="1650" dirty="0"/>
          </a:p>
        </p:txBody>
      </p:sp>
      <p:sp>
        <p:nvSpPr>
          <p:cNvPr id="23" name="Shape 19"/>
          <p:cNvSpPr/>
          <p:nvPr/>
        </p:nvSpPr>
        <p:spPr>
          <a:xfrm>
            <a:off x="914400" y="6261571"/>
            <a:ext cx="5384750" cy="1083915"/>
          </a:xfrm>
          <a:prstGeom prst="roundRect">
            <a:avLst>
              <a:gd name="adj" fmla="val 10545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1152525" y="6499696"/>
            <a:ext cx="5070043" cy="645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CLI available only in development environments.</a:t>
            </a:r>
            <a:endParaRPr lang="en-US" sz="1650" dirty="0"/>
          </a:p>
        </p:txBody>
      </p:sp>
      <p:sp>
        <p:nvSpPr>
          <p:cNvPr id="25" name="Shape 21"/>
          <p:cNvSpPr/>
          <p:nvPr/>
        </p:nvSpPr>
        <p:spPr>
          <a:xfrm>
            <a:off x="6451550" y="6261571"/>
            <a:ext cx="5384825" cy="1083915"/>
          </a:xfrm>
          <a:prstGeom prst="roundRect">
            <a:avLst>
              <a:gd name="adj" fmla="val 10545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689675" y="6499696"/>
            <a:ext cx="5070120" cy="645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source of truth for every team - resources are not split by org structure.</a:t>
            </a:r>
            <a:endParaRPr lang="en-US" sz="1650" dirty="0"/>
          </a:p>
        </p:txBody>
      </p:sp>
      <p:sp>
        <p:nvSpPr>
          <p:cNvPr id="27" name="Shape 23"/>
          <p:cNvSpPr/>
          <p:nvPr/>
        </p:nvSpPr>
        <p:spPr>
          <a:xfrm>
            <a:off x="11988775" y="6261571"/>
            <a:ext cx="5384750" cy="1083915"/>
          </a:xfrm>
          <a:prstGeom prst="roundRect">
            <a:avLst>
              <a:gd name="adj" fmla="val 10545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12226900" y="6499696"/>
            <a:ext cx="5070043" cy="645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Post-migration, all create/update/delete operations happen through Terraform only.</a:t>
            </a:r>
            <a:endParaRPr lang="en-US" sz="1650" dirty="0"/>
          </a:p>
        </p:txBody>
      </p:sp>
      <p:sp>
        <p:nvSpPr>
          <p:cNvPr id="29" name="Shape 25"/>
          <p:cNvSpPr/>
          <p:nvPr/>
        </p:nvSpPr>
        <p:spPr>
          <a:xfrm>
            <a:off x="914400" y="7497887"/>
            <a:ext cx="5384750" cy="1083915"/>
          </a:xfrm>
          <a:prstGeom prst="roundRect">
            <a:avLst>
              <a:gd name="adj" fmla="val 10545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1152525" y="7736012"/>
            <a:ext cx="5070043" cy="645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HCL must satisfy org linters.</a:t>
            </a:r>
            <a:endParaRPr lang="en-US" sz="1650" dirty="0"/>
          </a:p>
        </p:txBody>
      </p:sp>
      <p:sp>
        <p:nvSpPr>
          <p:cNvPr id="31" name="Shape 27"/>
          <p:cNvSpPr/>
          <p:nvPr/>
        </p:nvSpPr>
        <p:spPr>
          <a:xfrm>
            <a:off x="6451550" y="7497887"/>
            <a:ext cx="5384825" cy="1083915"/>
          </a:xfrm>
          <a:prstGeom prst="roundRect">
            <a:avLst>
              <a:gd name="adj" fmla="val 10545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689675" y="7736012"/>
            <a:ext cx="5070120" cy="645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Versioned releases, with change history findable when it is needed.</a:t>
            </a:r>
            <a:endParaRPr lang="en-US" sz="1650" dirty="0"/>
          </a:p>
        </p:txBody>
      </p:sp>
      <p:sp>
        <p:nvSpPr>
          <p:cNvPr id="33" name="Shape 29"/>
          <p:cNvSpPr/>
          <p:nvPr/>
        </p:nvSpPr>
        <p:spPr>
          <a:xfrm>
            <a:off x="11988775" y="7497887"/>
            <a:ext cx="5384750" cy="1083915"/>
          </a:xfrm>
          <a:prstGeom prst="roundRect">
            <a:avLst>
              <a:gd name="adj" fmla="val 10545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12226900" y="7736012"/>
            <a:ext cx="5070043" cy="645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Tidy up each tenant before import - stale, non-active resources don't get carried into Terraform.</a:t>
            </a:r>
            <a:endParaRPr lang="en-US" sz="1650" dirty="0"/>
          </a:p>
        </p:txBody>
      </p:sp>
      <p:sp>
        <p:nvSpPr>
          <p:cNvPr id="35" name="Text 31"/>
          <p:cNvSpPr/>
          <p:nvPr/>
        </p:nvSpPr>
        <p:spPr>
          <a:xfrm>
            <a:off x="914400" y="8962802"/>
            <a:ext cx="18105120" cy="3419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5B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Staging was supposed to mirror production. In practice it had drifted - and there was no history that could bring the two back in line. Hold that thought.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8105120" cy="7086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103"/>
              </a:lnSpc>
              <a:buNone/>
            </a:pPr>
            <a:r>
              <a:rPr lang="en-US" sz="4800" b="1" dirty="0">
                <a:solidFill>
                  <a:srgbClr val="0F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touches Jamf Pro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914400" y="1965945"/>
            <a:ext cx="3108945" cy="4000500"/>
          </a:xfrm>
          <a:prstGeom prst="roundRect">
            <a:avLst>
              <a:gd name="adj" fmla="val 3676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52525" y="2356470"/>
            <a:ext cx="2895965" cy="499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4902"/>
              </a:lnSpc>
              <a:buNone/>
            </a:pPr>
            <a:r>
              <a:rPr lang="en-US" sz="33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152525" y="5308327"/>
            <a:ext cx="1727150" cy="267593"/>
          </a:xfrm>
          <a:prstGeom prst="roundRect">
            <a:avLst>
              <a:gd name="adj" fmla="val 21357"/>
            </a:avLst>
          </a:prstGeom>
          <a:ln w="9525">
            <a:solidFill>
              <a:srgbClr val="5B6A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14450" y="5317852"/>
            <a:ext cx="1576015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317"/>
              </a:lnSpc>
              <a:buNone/>
            </a:pPr>
            <a:r>
              <a:rPr lang="en-US" sz="1350" spc="108" kern="0" dirty="0">
                <a:solidFill>
                  <a:srgbClr val="5B6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ACTIONS ONLY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251945" y="1965945"/>
            <a:ext cx="3108945" cy="4000500"/>
          </a:xfrm>
          <a:prstGeom prst="roundRect">
            <a:avLst>
              <a:gd name="adj" fmla="val 3676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90070" y="2356470"/>
            <a:ext cx="2895965" cy="499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4902"/>
              </a:lnSpc>
              <a:buNone/>
            </a:pPr>
            <a:r>
              <a:rPr lang="en-US" sz="33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Mac@LBG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4490070" y="5308327"/>
            <a:ext cx="2545705" cy="267593"/>
          </a:xfrm>
          <a:prstGeom prst="roundRect">
            <a:avLst>
              <a:gd name="adj" fmla="val 21357"/>
            </a:avLst>
          </a:prstGeom>
          <a:ln w="9525">
            <a:solidFill>
              <a:srgbClr val="006A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51995" y="5317852"/>
            <a:ext cx="2476426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317"/>
              </a:lnSpc>
              <a:buNone/>
            </a:pPr>
            <a:r>
              <a:rPr lang="en-US" sz="1350" spc="108" kern="0" dirty="0">
                <a:solidFill>
                  <a:srgbClr val="006A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MANAGEMENT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589490" y="1965945"/>
            <a:ext cx="3108945" cy="4000500"/>
          </a:xfrm>
          <a:prstGeom prst="roundRect">
            <a:avLst>
              <a:gd name="adj" fmla="val 3676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27615" y="2356470"/>
            <a:ext cx="2895965" cy="499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4902"/>
              </a:lnSpc>
              <a:buNone/>
            </a:pPr>
            <a:r>
              <a:rPr lang="en-US" sz="33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3300" dirty="0"/>
          </a:p>
        </p:txBody>
      </p:sp>
      <p:sp>
        <p:nvSpPr>
          <p:cNvPr id="13" name="Shape 11"/>
          <p:cNvSpPr/>
          <p:nvPr/>
        </p:nvSpPr>
        <p:spPr>
          <a:xfrm>
            <a:off x="7827615" y="5308327"/>
            <a:ext cx="2545705" cy="267593"/>
          </a:xfrm>
          <a:prstGeom prst="roundRect">
            <a:avLst>
              <a:gd name="adj" fmla="val 21357"/>
            </a:avLst>
          </a:prstGeom>
          <a:ln w="9525">
            <a:solidFill>
              <a:srgbClr val="006A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89540" y="5317852"/>
            <a:ext cx="2476426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317"/>
              </a:lnSpc>
              <a:buNone/>
            </a:pPr>
            <a:r>
              <a:rPr lang="en-US" sz="1350" spc="108" kern="0" dirty="0">
                <a:solidFill>
                  <a:srgbClr val="006A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MANAGEMENT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10927035" y="1965945"/>
            <a:ext cx="3108945" cy="4000500"/>
          </a:xfrm>
          <a:prstGeom prst="roundRect">
            <a:avLst>
              <a:gd name="adj" fmla="val 3676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165160" y="2356470"/>
            <a:ext cx="2711676" cy="14210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4902"/>
              </a:lnSpc>
              <a:buNone/>
            </a:pPr>
            <a:r>
              <a:rPr lang="en-US" sz="33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Packaging &amp; Deployment</a:t>
            </a:r>
            <a:endParaRPr lang="en-US" sz="3300" dirty="0"/>
          </a:p>
        </p:txBody>
      </p:sp>
      <p:sp>
        <p:nvSpPr>
          <p:cNvPr id="17" name="Shape 15"/>
          <p:cNvSpPr/>
          <p:nvPr/>
        </p:nvSpPr>
        <p:spPr>
          <a:xfrm>
            <a:off x="11165160" y="5308327"/>
            <a:ext cx="2545705" cy="267593"/>
          </a:xfrm>
          <a:prstGeom prst="roundRect">
            <a:avLst>
              <a:gd name="adj" fmla="val 21357"/>
            </a:avLst>
          </a:prstGeom>
          <a:ln w="9525">
            <a:solidFill>
              <a:srgbClr val="006A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327085" y="5317852"/>
            <a:ext cx="2476426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317"/>
              </a:lnSpc>
              <a:buNone/>
            </a:pPr>
            <a:r>
              <a:rPr lang="en-US" sz="1350" spc="108" kern="0" dirty="0">
                <a:solidFill>
                  <a:srgbClr val="006A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MANAGEMENT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14264580" y="1965945"/>
            <a:ext cx="3108945" cy="4000500"/>
          </a:xfrm>
          <a:prstGeom prst="roundRect">
            <a:avLst>
              <a:gd name="adj" fmla="val 3676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4502705" y="2356470"/>
            <a:ext cx="2895965" cy="499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4902"/>
              </a:lnSpc>
              <a:buNone/>
            </a:pPr>
            <a:r>
              <a:rPr lang="en-US" sz="33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Auditors</a:t>
            </a:r>
            <a:endParaRPr lang="en-US" sz="3300" dirty="0"/>
          </a:p>
        </p:txBody>
      </p:sp>
      <p:sp>
        <p:nvSpPr>
          <p:cNvPr id="21" name="Shape 19"/>
          <p:cNvSpPr/>
          <p:nvPr/>
        </p:nvSpPr>
        <p:spPr>
          <a:xfrm>
            <a:off x="14502705" y="5059784"/>
            <a:ext cx="2632695" cy="516136"/>
          </a:xfrm>
          <a:prstGeom prst="roundRect">
            <a:avLst>
              <a:gd name="adj" fmla="val 11073"/>
            </a:avLst>
          </a:prstGeom>
          <a:ln w="9525">
            <a:solidFill>
              <a:srgbClr val="5B6A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664630" y="5069309"/>
            <a:ext cx="2387826" cy="5351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317"/>
              </a:lnSpc>
              <a:buNone/>
            </a:pPr>
            <a:r>
              <a:rPr lang="en-US" sz="1350" spc="108" kern="0" dirty="0">
                <a:solidFill>
                  <a:srgbClr val="5B6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READ-ONLY, ON DEMAND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914400" y="6347445"/>
            <a:ext cx="16952976" cy="645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5B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teams touch Jamf Pro - three manage resources, Support takes actions only, auditors verify it. Because the HCL is self-documenting, the repo itself doubles as the audit trail and can be handed straight to auditors.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8105120" cy="7086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103"/>
              </a:lnSpc>
              <a:buNone/>
            </a:pPr>
            <a:r>
              <a:rPr lang="en-US" sz="4800" b="1" dirty="0">
                <a:solidFill>
                  <a:srgbClr val="0F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Migration objectives and design decisions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914400" y="1965945"/>
            <a:ext cx="8115300" cy="5728320"/>
          </a:xfrm>
          <a:prstGeom prst="roundRect">
            <a:avLst>
              <a:gd name="adj" fmla="val 1995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304925" y="2356470"/>
            <a:ext cx="8067675" cy="3419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spc="198" kern="0" dirty="0">
                <a:solidFill>
                  <a:srgbClr val="5B6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GOVERNANCE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1304925" y="2888903"/>
            <a:ext cx="457200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941"/>
              </a:lnSpc>
              <a:buNone/>
            </a:pPr>
            <a:r>
              <a:rPr lang="en-US" sz="2250" dirty="0">
                <a:solidFill>
                  <a:srgbClr val="0B5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838325" y="2888903"/>
            <a:ext cx="7004876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monorepo is the single source of truth for every instance.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304925" y="3946178"/>
            <a:ext cx="457200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941"/>
              </a:lnSpc>
              <a:buNone/>
            </a:pPr>
            <a:r>
              <a:rPr lang="en-US" sz="2250" dirty="0">
                <a:solidFill>
                  <a:srgbClr val="0B5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838325" y="3946178"/>
            <a:ext cx="7004876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merge to main requires at least one peer review from another engineer.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304925" y="5003453"/>
            <a:ext cx="457200" cy="12811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941"/>
              </a:lnSpc>
              <a:buNone/>
            </a:pPr>
            <a:r>
              <a:rPr lang="en-US" sz="2250" dirty="0">
                <a:solidFill>
                  <a:srgbClr val="0B5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1838325" y="5003453"/>
            <a:ext cx="7004876" cy="12811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Post-migration, all engineers drop to read-only in Jamf Pro; only the Terraform machine identity holds full CRUD.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304925" y="6475065"/>
            <a:ext cx="457200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941"/>
              </a:lnSpc>
              <a:buNone/>
            </a:pPr>
            <a:r>
              <a:rPr lang="en-US" sz="2250" dirty="0">
                <a:solidFill>
                  <a:srgbClr val="0B5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838325" y="6475065"/>
            <a:ext cx="7004876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Break-glass account available, held in PAM (Privileged Access Management).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258300" y="1965945"/>
            <a:ext cx="8115300" cy="5728320"/>
          </a:xfrm>
          <a:prstGeom prst="roundRect">
            <a:avLst>
              <a:gd name="adj" fmla="val 1995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48825" y="2356470"/>
            <a:ext cx="8067675" cy="3419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spc="198" kern="0" dirty="0">
                <a:solidFill>
                  <a:srgbClr val="5B6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AND DX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648825" y="2888903"/>
            <a:ext cx="45720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941"/>
              </a:lnSpc>
              <a:buNone/>
            </a:pPr>
            <a:r>
              <a:rPr lang="en-US" sz="2250" dirty="0">
                <a:solidFill>
                  <a:srgbClr val="0B5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0182225" y="2888903"/>
            <a:ext cx="6196459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Terraform definition drives all instances.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648825" y="3531840"/>
            <a:ext cx="457200" cy="12811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941"/>
              </a:lnSpc>
              <a:buNone/>
            </a:pPr>
            <a:r>
              <a:rPr lang="en-US" sz="2250" dirty="0">
                <a:solidFill>
                  <a:srgbClr val="0B5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10182225" y="3531840"/>
            <a:ext cx="7004876" cy="12811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 centralised in an internally hosted HashiCorp Vault - set once by humans, read by Terraform via data sources.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9648825" y="5003453"/>
            <a:ext cx="457200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941"/>
              </a:lnSpc>
              <a:buNone/>
            </a:pPr>
            <a:r>
              <a:rPr lang="en-US" sz="2250" dirty="0">
                <a:solidFill>
                  <a:srgbClr val="0B5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0182225" y="5003453"/>
            <a:ext cx="7004876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Branching strategy supports three environments with VCS-based triggers (one instance is CLI-triggered).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9648825" y="6060728"/>
            <a:ext cx="457200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941"/>
              </a:lnSpc>
              <a:buNone/>
            </a:pPr>
            <a:r>
              <a:rPr lang="en-US" sz="2250" dirty="0">
                <a:solidFill>
                  <a:srgbClr val="0B5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0182225" y="6060728"/>
            <a:ext cx="7004876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 experience: BAU change is a one-line edit to a parameter map, not hand-written HCL.</a:t>
            </a:r>
            <a:endParaRPr lang="en-US" sz="2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8105120" cy="7086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103"/>
              </a:lnSpc>
              <a:buNone/>
            </a:pPr>
            <a:r>
              <a:rPr lang="en-US" sz="4800" b="1" dirty="0">
                <a:solidFill>
                  <a:srgbClr val="0F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Ideas rejected, and why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914400" y="3352726"/>
            <a:ext cx="16459200" cy="9525"/>
          </a:xfrm>
          <a:prstGeom prst="rect">
            <a:avLst/>
          </a:prstGeom>
          <a:solidFill>
            <a:srgbClr val="D9E0DD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965945"/>
            <a:ext cx="5905500" cy="1234380"/>
          </a:xfrm>
          <a:prstGeom prst="roundRect">
            <a:avLst>
              <a:gd name="adj" fmla="val 9260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52525" y="2204070"/>
            <a:ext cx="1259384" cy="267593"/>
          </a:xfrm>
          <a:prstGeom prst="roundRect">
            <a:avLst>
              <a:gd name="adj" fmla="val 21357"/>
            </a:avLst>
          </a:prstGeom>
          <a:ln w="9525">
            <a:solidFill>
              <a:srgbClr val="BE3A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14450" y="2213595"/>
            <a:ext cx="1061472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317"/>
              </a:lnSpc>
              <a:buNone/>
            </a:pPr>
            <a:r>
              <a:rPr lang="en-US" sz="1350" spc="108" kern="0" dirty="0">
                <a:solidFill>
                  <a:srgbClr val="BE3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REJECTED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152525" y="2547863"/>
            <a:ext cx="501422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strike="sngStrike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workspace for all resources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7048500" y="2279303"/>
            <a:ext cx="10634853" cy="645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5B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Blast radius and plan execution time. Guidance suggests roughly 500 resources per workspace; the estate holds 1,500+. At ~5,000, things break down.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914400" y="5315769"/>
            <a:ext cx="16459200" cy="9525"/>
          </a:xfrm>
          <a:prstGeom prst="rect">
            <a:avLst/>
          </a:prstGeom>
          <a:solidFill>
            <a:srgbClr val="D9E0DD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3514651"/>
            <a:ext cx="5905500" cy="1648718"/>
          </a:xfrm>
          <a:prstGeom prst="roundRect">
            <a:avLst>
              <a:gd name="adj" fmla="val 6933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2525" y="3752776"/>
            <a:ext cx="1259384" cy="267593"/>
          </a:xfrm>
          <a:prstGeom prst="roundRect">
            <a:avLst>
              <a:gd name="adj" fmla="val 21357"/>
            </a:avLst>
          </a:prstGeom>
          <a:ln w="9525">
            <a:solidFill>
              <a:srgbClr val="BE3A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14450" y="3762301"/>
            <a:ext cx="1061472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317"/>
              </a:lnSpc>
              <a:buNone/>
            </a:pPr>
            <a:r>
              <a:rPr lang="en-US" sz="1350" spc="108" kern="0" dirty="0">
                <a:solidFill>
                  <a:srgbClr val="BE3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REJECTED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152525" y="4096569"/>
            <a:ext cx="5592128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strike="sngStrike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Per-team Terraform modules scoped to each team's resources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7048500" y="3883223"/>
            <a:ext cx="10634853" cy="9495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5B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change needs Mac team approval regardless of which repo it lives in. Splitting by team would just mean chasing that same approval across several repos instead of one - one repo keeps every approval flowing through a single place.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914400" y="5477694"/>
            <a:ext cx="5905500" cy="1234380"/>
          </a:xfrm>
          <a:prstGeom prst="roundRect">
            <a:avLst>
              <a:gd name="adj" fmla="val 9260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52525" y="5715819"/>
            <a:ext cx="1259384" cy="267593"/>
          </a:xfrm>
          <a:prstGeom prst="roundRect">
            <a:avLst>
              <a:gd name="adj" fmla="val 21357"/>
            </a:avLst>
          </a:prstGeom>
          <a:ln w="9525">
            <a:solidFill>
              <a:srgbClr val="BE3A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14450" y="5725344"/>
            <a:ext cx="1061472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317"/>
              </a:lnSpc>
              <a:buNone/>
            </a:pPr>
            <a:r>
              <a:rPr lang="en-US" sz="1350" spc="108" kern="0" dirty="0">
                <a:solidFill>
                  <a:srgbClr val="BE3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REJECTED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152525" y="6059612"/>
            <a:ext cx="4991055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strike="sngStrike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Managing everything with Terraform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7048500" y="5791051"/>
            <a:ext cx="10634853" cy="645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5B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group membership stays unmanaged to protect the support experience - troubleshooting should not require a pull request.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914400" y="7245474"/>
            <a:ext cx="18105120" cy="3419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5B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more ideas fell later in the journey - they come up where they happened.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8105120" cy="7086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103"/>
              </a:lnSpc>
              <a:buNone/>
            </a:pPr>
            <a:r>
              <a:rPr lang="en-US" sz="4800" b="1" dirty="0">
                <a:solidFill>
                  <a:srgbClr val="0F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Instance migration order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914400" y="1965945"/>
            <a:ext cx="15304770" cy="12534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98"/>
              </a:lnSpc>
              <a:buNone/>
            </a:pPr>
            <a:r>
              <a:rPr lang="en-US" sz="330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Staging and production had already drifted apart long before migration started - by November 2025 the two instances were no longer aligned.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914400" y="3790876"/>
            <a:ext cx="8039100" cy="3290813"/>
          </a:xfrm>
          <a:prstGeom prst="roundRect">
            <a:avLst>
              <a:gd name="adj" fmla="val 3473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33525" y="4410001"/>
            <a:ext cx="984052" cy="3419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spc="198" kern="0" dirty="0">
                <a:solidFill>
                  <a:srgbClr val="5B6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533525" y="4942433"/>
            <a:ext cx="4840441" cy="499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4902"/>
              </a:lnSpc>
              <a:buNone/>
            </a:pPr>
            <a:r>
              <a:rPr lang="en-US" sz="3300" b="1" dirty="0">
                <a:solidFill>
                  <a:srgbClr val="5B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Staging → Production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1533525" y="5632028"/>
            <a:ext cx="7004876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5B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divergent sets of configuration to import - and the drifted one gets validated first.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334500" y="3790876"/>
            <a:ext cx="8039100" cy="3290813"/>
          </a:xfrm>
          <a:prstGeom prst="roundRect">
            <a:avLst>
              <a:gd name="adj" fmla="val 3473"/>
            </a:avLst>
          </a:prstGeom>
          <a:solidFill>
            <a:srgbClr val="FFFFFF"/>
          </a:solidFill>
          <a:ln w="28575">
            <a:solidFill>
              <a:srgbClr val="006A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972675" y="4429051"/>
            <a:ext cx="1025500" cy="267593"/>
          </a:xfrm>
          <a:prstGeom prst="roundRect">
            <a:avLst>
              <a:gd name="adj" fmla="val 21357"/>
            </a:avLst>
          </a:prstGeom>
          <a:solidFill>
            <a:srgbClr val="006A4D"/>
          </a:solidFill>
          <a:ln w="9525">
            <a:solidFill>
              <a:srgbClr val="006A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134600" y="4438576"/>
            <a:ext cx="804200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317"/>
              </a:lnSpc>
              <a:buNone/>
            </a:pPr>
            <a:r>
              <a:rPr lang="en-US" sz="1350" spc="108" kern="0" dirty="0">
                <a:solidFill>
                  <a:srgbClr val="F6F8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CHOSEN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972675" y="4925244"/>
            <a:ext cx="3431954" cy="499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4902"/>
              </a:lnSpc>
              <a:buNone/>
            </a:pPr>
            <a:r>
              <a:rPr lang="en-US" sz="33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first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9972675" y="5614839"/>
            <a:ext cx="6965633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Riskier on paper. But production is the configuration that matters.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7462689"/>
            <a:ext cx="14859000" cy="1719263"/>
          </a:xfrm>
          <a:prstGeom prst="roundRect">
            <a:avLst>
              <a:gd name="adj" fmla="val 6648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52525" y="7700814"/>
            <a:ext cx="14814232" cy="12811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b="1" dirty="0">
                <a:solidFill>
                  <a:srgbClr val="006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control that made it safe: </a:t>
            </a:r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Terraform API client held read-only scopes. Importing only reads - so state was built with no surface to change the server. Write access was widened only once imports were stable with no recurring diff. Joseph and Gordon held those keys.</a:t>
            </a:r>
            <a:endParaRPr lang="en-US" sz="2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8105120" cy="7086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103"/>
              </a:lnSpc>
              <a:buNone/>
            </a:pPr>
            <a:r>
              <a:rPr lang="en-US" sz="4800" b="1" dirty="0">
                <a:solidFill>
                  <a:srgbClr val="0F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Instance prep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914400" y="1994520"/>
            <a:ext cx="357188" cy="357188"/>
          </a:xfrm>
          <a:prstGeom prst="roundRect">
            <a:avLst>
              <a:gd name="adj" fmla="val 16000"/>
            </a:avLst>
          </a:prstGeom>
          <a:ln w="19050">
            <a:solidFill>
              <a:srgbClr val="177A4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500188" y="1965945"/>
            <a:ext cx="13622226" cy="12811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tidy-up: used PRUNE to export JSON of every unused resource, then removed them with a bespoke tool - </a:t>
            </a:r>
            <a:pPr algn="l" indent="0" marL="0">
              <a:lnSpc>
                <a:spcPct val="126087"/>
              </a:lnSpc>
              <a:buNone/>
            </a:pPr>
            <a:r>
              <a:rPr lang="en-US" sz="1980" dirty="0">
                <a:solidFill>
                  <a:srgbClr val="0B5FA5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jamf-resource-deleter </a:t>
            </a:r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which backs each resource up to JSON before deleting it, with a restore path if anything was needed back.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914400" y="3618533"/>
            <a:ext cx="357188" cy="357188"/>
          </a:xfrm>
          <a:prstGeom prst="roundRect">
            <a:avLst>
              <a:gd name="adj" fmla="val 16000"/>
            </a:avLst>
          </a:prstGeom>
          <a:ln w="19050">
            <a:solidFill>
              <a:srgbClr val="177A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00188" y="3589958"/>
            <a:ext cx="8159762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API credentials per client were valid and complete.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4413870"/>
            <a:ext cx="357188" cy="357188"/>
          </a:xfrm>
          <a:prstGeom prst="roundRect">
            <a:avLst>
              <a:gd name="adj" fmla="val 16000"/>
            </a:avLst>
          </a:prstGeom>
          <a:ln w="19050">
            <a:solidFill>
              <a:srgbClr val="177A4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00188" y="4385295"/>
            <a:ext cx="9521101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 the Jamf Pro instance version met provider requirements.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5209208"/>
            <a:ext cx="357188" cy="357188"/>
          </a:xfrm>
          <a:prstGeom prst="roundRect">
            <a:avLst>
              <a:gd name="adj" fmla="val 16000"/>
            </a:avLst>
          </a:prstGeom>
          <a:ln w="19050">
            <a:solidFill>
              <a:srgbClr val="177A4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500188" y="5180633"/>
            <a:ext cx="13622226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Tested the connection to Terraform Cloud end-to-end and confirmed every client's credentials were being read correctly.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914400" y="6418883"/>
            <a:ext cx="357188" cy="357188"/>
          </a:xfrm>
          <a:prstGeom prst="roundRect">
            <a:avLst>
              <a:gd name="adj" fmla="val 16000"/>
            </a:avLst>
          </a:prstGeom>
          <a:ln w="19050">
            <a:solidFill>
              <a:srgbClr val="177A4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00188" y="6390308"/>
            <a:ext cx="10228659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Stored credentials for every instance's API clients in the secrets manager.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7214220"/>
            <a:ext cx="357188" cy="357188"/>
          </a:xfrm>
          <a:prstGeom prst="roundRect">
            <a:avLst>
              <a:gd name="adj" fmla="val 16000"/>
            </a:avLst>
          </a:prstGeom>
          <a:ln w="19050">
            <a:solidFill>
              <a:srgbClr val="177A4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500188" y="7185645"/>
            <a:ext cx="13622226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the estate into resource-type sections up front, so migration could proceed safely, one section at a time.</a:t>
            </a:r>
            <a:endParaRPr lang="en-US" sz="2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8105120" cy="7086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103"/>
              </a:lnSpc>
              <a:buNone/>
            </a:pPr>
            <a:r>
              <a:rPr lang="en-US" sz="4800" b="1" dirty="0">
                <a:solidFill>
                  <a:srgbClr val="0F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Singletons first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914400" y="1965945"/>
            <a:ext cx="4120515" cy="2109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Settings panes are single-instance resources - there's only ever one. Import stayed the default; apply was the fallback.</a:t>
            </a:r>
            <a:endParaRPr lang="en-US" sz="2250" dirty="0"/>
          </a:p>
        </p:txBody>
      </p:sp>
      <p:sp>
        <p:nvSpPr>
          <p:cNvPr id="4" name="Shape 2"/>
          <p:cNvSpPr/>
          <p:nvPr/>
        </p:nvSpPr>
        <p:spPr>
          <a:xfrm>
            <a:off x="914400" y="4266233"/>
            <a:ext cx="4000500" cy="213360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52525" y="4504358"/>
            <a:ext cx="3629978" cy="169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b="1" dirty="0">
                <a:solidFill>
                  <a:srgbClr val="006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skip import if you can. </a:t>
            </a:r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was only the fallback when no import statement existed.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914400" y="6628433"/>
            <a:ext cx="4120515" cy="12811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settings resource under management in about a day.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5295900" y="1965945"/>
            <a:ext cx="12077700" cy="4436120"/>
          </a:xfrm>
          <a:prstGeom prst="roundRect">
            <a:avLst>
              <a:gd name="adj" fmla="val 2577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534025" y="2204070"/>
            <a:ext cx="11963781" cy="399797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18800"/>
              </a:lnSpc>
              <a:buNone/>
            </a:pPr>
            <a:r>
              <a:rPr lang="en-US" sz="1650" dirty="0">
                <a:solidFill>
                  <a:srgbClr val="0B5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</a:t>
            </a:r>
            <a:pPr algn="l" indent="0" marL="0">
              <a:lnSpc>
                <a:spcPct val="118800"/>
              </a:lnSpc>
              <a:buNone/>
            </a:pPr>
            <a:r>
              <a:rPr lang="en-US" sz="16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18800"/>
              </a:lnSpc>
              <a:buNone/>
            </a:pPr>
            <a:r>
              <a:rPr lang="en-US" sz="1650" dirty="0">
                <a:solidFill>
                  <a:srgbClr val="006A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"jamfpro_client_checkin"</a:t>
            </a:r>
            <a:pPr algn="l" indent="0" marL="0">
              <a:lnSpc>
                <a:spcPct val="118800"/>
              </a:lnSpc>
              <a:buNone/>
            </a:pPr>
            <a:r>
              <a:rPr lang="en-US" sz="16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18800"/>
              </a:lnSpc>
              <a:buNone/>
            </a:pPr>
            <a:r>
              <a:rPr lang="en-US" sz="1650" dirty="0">
                <a:solidFill>
                  <a:srgbClr val="006A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"jamfpro_client_checkin" </a:t>
            </a:r>
            <a:pPr algn="l" indent="0" marL="0">
              <a:lnSpc>
                <a:spcPct val="118800"/>
              </a:lnSpc>
              <a:buNone/>
            </a:pPr>
            <a:r>
              <a:rPr lang="en-US" sz="16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</a:t>
            </a:r>
            <a:endParaRPr lang="en-US" sz="1650" dirty="0"/>
          </a:p>
          <a:p>
            <a:pPr algn="l" indent="0" marL="0">
              <a:lnSpc>
                <a:spcPct val="118800"/>
              </a:lnSpc>
              <a:buNone/>
            </a:pPr>
            <a:r>
              <a:rPr lang="en-US" sz="16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check_in_frequency                  =  </a:t>
            </a:r>
            <a:endParaRPr lang="en-US" sz="1650" dirty="0"/>
          </a:p>
          <a:p>
            <a:pPr algn="l" indent="0" marL="0">
              <a:lnSpc>
                <a:spcPct val="118800"/>
              </a:lnSpc>
              <a:buNone/>
            </a:pPr>
            <a:r>
              <a:rPr lang="en-US" sz="1650" dirty="0">
                <a:solidFill>
                  <a:srgbClr val="9A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algn="l" indent="0" marL="0">
              <a:lnSpc>
                <a:spcPct val="118800"/>
              </a:lnSpc>
              <a:buNone/>
            </a:pPr>
            <a:r>
              <a:rPr lang="en-US" sz="16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18800"/>
              </a:lnSpc>
              <a:buNone/>
            </a:pPr>
            <a:r>
              <a:rPr lang="en-US" sz="1650" dirty="0">
                <a:solidFill>
                  <a:srgbClr val="5B6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Valid values: 5, 15, 30, 60 </a:t>
            </a:r>
            <a:pPr algn="l" indent="0" marL="0">
              <a:lnSpc>
                <a:spcPct val="118800"/>
              </a:lnSpc>
              <a:buNone/>
            </a:pPr>
            <a:r>
              <a:rPr lang="en-US" sz="16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create_startup_script               = true</a:t>
            </a:r>
            <a:endParaRPr lang="en-US" sz="1650" dirty="0"/>
          </a:p>
          <a:p>
            <a:pPr algn="l" indent="0" marL="0">
              <a:lnSpc>
                <a:spcPct val="118800"/>
              </a:lnSpc>
              <a:buNone/>
            </a:pPr>
            <a:r>
              <a:rPr lang="en-US" sz="16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startup_log                         = true </a:t>
            </a:r>
            <a:endParaRPr lang="en-US" sz="1650" dirty="0"/>
          </a:p>
          <a:p>
            <a:pPr algn="l" indent="0" marL="0">
              <a:lnSpc>
                <a:spcPct val="118800"/>
              </a:lnSpc>
              <a:buNone/>
            </a:pPr>
            <a:r>
              <a:rPr lang="en-US" sz="1650" dirty="0">
                <a:solidFill>
                  <a:srgbClr val="5B6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requires create_startup_script </a:t>
            </a:r>
            <a:pPr algn="l" indent="0" marL="0">
              <a:lnSpc>
                <a:spcPct val="118800"/>
              </a:lnSpc>
              <a:buNone/>
            </a:pPr>
            <a:r>
              <a:rPr lang="en-US" sz="16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startup_ssh                         = true </a:t>
            </a:r>
            <a:pPr algn="l" indent="0" marL="0">
              <a:lnSpc>
                <a:spcPct val="118800"/>
              </a:lnSpc>
              <a:buNone/>
            </a:pPr>
            <a:r>
              <a:rPr lang="en-US" sz="1650" dirty="0">
                <a:solidFill>
                  <a:srgbClr val="5B6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requires create_startup_script </a:t>
            </a:r>
            <a:pPr algn="l" indent="0" marL="0">
              <a:lnSpc>
                <a:spcPct val="118800"/>
              </a:lnSpc>
              <a:buNone/>
            </a:pPr>
            <a:r>
              <a:rPr lang="en-US" sz="16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startup_policies                    = true </a:t>
            </a:r>
            <a:pPr algn="l" indent="0" marL="0">
              <a:lnSpc>
                <a:spcPct val="118800"/>
              </a:lnSpc>
              <a:buNone/>
            </a:pPr>
            <a:r>
              <a:rPr lang="en-US" sz="1650" dirty="0">
                <a:solidFill>
                  <a:srgbClr val="5B6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requires create_startup_script </a:t>
            </a:r>
            <a:pPr algn="l" indent="0" marL="0">
              <a:lnSpc>
                <a:spcPct val="118800"/>
              </a:lnSpc>
              <a:buNone/>
            </a:pPr>
            <a:r>
              <a:rPr lang="en-US" sz="16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create_hooks                        = true</a:t>
            </a:r>
            <a:endParaRPr lang="en-US" sz="1650" dirty="0"/>
          </a:p>
          <a:p>
            <a:pPr algn="l" indent="0" marL="0">
              <a:lnSpc>
                <a:spcPct val="118800"/>
              </a:lnSpc>
              <a:buNone/>
            </a:pPr>
            <a:r>
              <a:rPr lang="en-US" sz="16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hook_log                            = true </a:t>
            </a:r>
            <a:endParaRPr lang="en-US" sz="1650" dirty="0"/>
          </a:p>
          <a:p>
            <a:pPr algn="l" indent="0" marL="0">
              <a:lnSpc>
                <a:spcPct val="118800"/>
              </a:lnSpc>
              <a:buNone/>
            </a:pPr>
            <a:r>
              <a:rPr lang="en-US" sz="1650" dirty="0">
                <a:solidFill>
                  <a:srgbClr val="5B6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requires create_hooks </a:t>
            </a:r>
            <a:pPr algn="l" indent="0" marL="0">
              <a:lnSpc>
                <a:spcPct val="118800"/>
              </a:lnSpc>
              <a:buNone/>
            </a:pPr>
            <a:r>
              <a:rPr lang="en-US" sz="16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hook_policies                       = true </a:t>
            </a:r>
            <a:pPr algn="l" indent="0" marL="0">
              <a:lnSpc>
                <a:spcPct val="118800"/>
              </a:lnSpc>
              <a:buNone/>
            </a:pPr>
            <a:r>
              <a:rPr lang="en-US" sz="1650" dirty="0">
                <a:solidFill>
                  <a:srgbClr val="5B6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requires create_hooks </a:t>
            </a:r>
            <a:pPr algn="l" indent="0" marL="0">
              <a:lnSpc>
                <a:spcPct val="118800"/>
              </a:lnSpc>
              <a:buNone/>
            </a:pPr>
            <a:r>
              <a:rPr lang="en-US" sz="16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enable_local_configuration_profiles = true</a:t>
            </a:r>
            <a:endParaRPr lang="en-US" sz="1650" dirty="0"/>
          </a:p>
          <a:p>
            <a:pPr algn="l" indent="0" marL="0">
              <a:lnSpc>
                <a:spcPct val="118800"/>
              </a:lnSpc>
              <a:buNone/>
            </a:pPr>
            <a:r>
              <a:rPr lang="en-US" sz="16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allow_network_state_change_triggers = true</a:t>
            </a:r>
            <a:endParaRPr lang="en-US" sz="1650" dirty="0"/>
          </a:p>
          <a:p>
            <a:pPr algn="l" indent="0" marL="0">
              <a:lnSpc>
                <a:spcPct val="118800"/>
              </a:lnSpc>
              <a:buNone/>
            </a:pPr>
            <a:r>
              <a:rPr lang="en-US" sz="16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</a:t>
            </a:r>
            <a:endParaRPr lang="en-US" sz="1650" dirty="0"/>
          </a:p>
          <a:p>
            <a:pPr algn="l" indent="0" marL="0">
              <a:lnSpc>
                <a:spcPct val="118800"/>
              </a:lnSpc>
              <a:buNone/>
            </a:pPr>
            <a:r>
              <a:rPr lang="en-US" sz="1650" dirty="0">
                <a:solidFill>
                  <a:srgbClr val="0B5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algn="l" indent="0" marL="0">
              <a:lnSpc>
                <a:spcPct val="118800"/>
              </a:lnSpc>
              <a:buNone/>
            </a:pPr>
            <a:r>
              <a:rPr lang="en-US" sz="16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{}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8105120" cy="7086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103"/>
              </a:lnSpc>
              <a:buNone/>
            </a:pPr>
            <a:r>
              <a:rPr lang="en-US" sz="4800" b="1" dirty="0">
                <a:solidFill>
                  <a:srgbClr val="0F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Getting past Sentinel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914400" y="1965945"/>
            <a:ext cx="15304770" cy="2468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98"/>
              </a:lnSpc>
              <a:buNone/>
            </a:pPr>
            <a:r>
              <a:rPr lang="en-US" sz="330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LBG, every Terraform run - across the bank's entire public cloud estate - passes through Sentinel policy checks before it can apply. One of those policies bans </a:t>
            </a:r>
            <a:pPr algn="l" indent="0" marL="0">
              <a:lnSpc>
                <a:spcPct val="125098"/>
              </a:lnSpc>
              <a:buNone/>
            </a:pPr>
            <a:r>
              <a:rPr lang="en-US" sz="2904" dirty="0">
                <a:solidFill>
                  <a:srgbClr val="0B5FA5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</a:t>
            </a:r>
            <a:pPr algn="l" indent="0" marL="0">
              <a:lnSpc>
                <a:spcPct val="125098"/>
              </a:lnSpc>
              <a:buNone/>
            </a:pPr>
            <a:r>
              <a:rPr lang="en-US" sz="330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outright, because importing lets a workspace adopt resources someone else already manages.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914400" y="5006206"/>
            <a:ext cx="5334000" cy="2001143"/>
          </a:xfrm>
          <a:prstGeom prst="roundRect">
            <a:avLst>
              <a:gd name="adj" fmla="val 5712"/>
            </a:avLst>
          </a:prstGeom>
          <a:solidFill>
            <a:srgbClr val="FFFFFF"/>
          </a:solidFill>
          <a:ln w="9525">
            <a:solidFill>
              <a:srgbClr val="BE3A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52525" y="5244331"/>
            <a:ext cx="5343525" cy="499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778"/>
              </a:lnSpc>
              <a:buNone/>
            </a:pPr>
            <a:r>
              <a:rPr lang="en-US" sz="3300" dirty="0">
                <a:solidFill>
                  <a:srgbClr val="BE3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152525" y="5857726"/>
            <a:ext cx="5003483" cy="9495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Ruled out. </a:t>
            </a:r>
            <a:pPr algn="l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blocks are banned outright, and with no CLI access to production workspaces there's no </a:t>
            </a:r>
            <a:pPr algn="l" indent="0" marL="0">
              <a:lnSpc>
                <a:spcPct val="127600"/>
              </a:lnSpc>
              <a:buNone/>
            </a:pPr>
            <a:r>
              <a:rPr lang="en-US" sz="1452" dirty="0">
                <a:solidFill>
                  <a:srgbClr val="0B5FA5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terraform import </a:t>
            </a:r>
            <a:pPr algn="l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fallback either.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77000" y="5006206"/>
            <a:ext cx="5334000" cy="2001143"/>
          </a:xfrm>
          <a:prstGeom prst="roundRect">
            <a:avLst>
              <a:gd name="adj" fmla="val 5712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15125" y="5244331"/>
            <a:ext cx="5343525" cy="499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778"/>
              </a:lnSpc>
              <a:buNone/>
            </a:pPr>
            <a:r>
              <a:rPr lang="en-US" sz="3300" dirty="0">
                <a:solidFill>
                  <a:srgbClr val="0B5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6715125" y="5857726"/>
            <a:ext cx="5003483" cy="9495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Excepted. </a:t>
            </a:r>
            <a:pPr algn="l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time-bound Sentinel exception, submitted - and chased - for every import window. Strings were pulled.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12039600" y="5006206"/>
            <a:ext cx="5334000" cy="2001143"/>
          </a:xfrm>
          <a:prstGeom prst="roundRect">
            <a:avLst>
              <a:gd name="adj" fmla="val 5712"/>
            </a:avLst>
          </a:prstGeom>
          <a:solidFill>
            <a:srgbClr val="FFFFFF"/>
          </a:solidFill>
          <a:ln w="9525">
            <a:solidFill>
              <a:srgbClr val="177A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277725" y="5244331"/>
            <a:ext cx="5343525" cy="499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778"/>
              </a:lnSpc>
              <a:buNone/>
            </a:pPr>
            <a:r>
              <a:rPr lang="en-US" sz="3300" dirty="0">
                <a:solidFill>
                  <a:srgbClr val="177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12277725" y="5857726"/>
            <a:ext cx="5003483" cy="9495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Resolved. </a:t>
            </a:r>
            <a:pPr algn="l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made the case to the Sentinel team: sole actors on these workspaces, nobody else's resources to adopt. Standing exception granted.</a:t>
            </a:r>
            <a:endParaRPr lang="en-US" sz="1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8105120" cy="7086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103"/>
              </a:lnSpc>
              <a:buNone/>
            </a:pPr>
            <a:r>
              <a:rPr lang="en-US" sz="4800" b="1" dirty="0">
                <a:solidFill>
                  <a:srgbClr val="0F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Resource sequencing </a:t>
            </a:r>
            <a:pPr algn="l" indent="0" marL="0">
              <a:lnSpc>
                <a:spcPct val="97103"/>
              </a:lnSpc>
              <a:buNone/>
            </a:pPr>
            <a:r>
              <a:rPr lang="en-US" sz="1350" dirty="0">
                <a:solidFill>
                  <a:srgbClr val="9A6A00"/>
                </a:solidFill>
                <a:highlight>
                  <a:srgbClr val="F3EDE0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TODO (Gordon Deacon): real resource-type names per band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914400" y="1965945"/>
            <a:ext cx="15697200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resource type at a time, end to end in production - not one instance at a time. The order came from the matrix: a group-built spreadsheet of every resource type and its dependencies.</a:t>
            </a:r>
            <a:endParaRPr lang="en-US" sz="22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023220"/>
            <a:ext cx="13716000" cy="5715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8105120" cy="7086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103"/>
              </a:lnSpc>
              <a:buNone/>
            </a:pPr>
            <a:r>
              <a:rPr lang="en-US" sz="4800" b="1" dirty="0">
                <a:solidFill>
                  <a:srgbClr val="0F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Migration wave workflow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914400" y="1965945"/>
            <a:ext cx="2220664" cy="3293641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52525" y="2204070"/>
            <a:ext cx="1918856" cy="499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778"/>
              </a:lnSpc>
              <a:buNone/>
            </a:pPr>
            <a:r>
              <a:rPr lang="en-US" sz="3300" dirty="0">
                <a:solidFill>
                  <a:srgbClr val="0B5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1152525" y="2817465"/>
            <a:ext cx="1820614" cy="9495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the Mac team which resources are in this wave.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3287464" y="1965945"/>
            <a:ext cx="2220664" cy="3293641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25589" y="2204070"/>
            <a:ext cx="1918856" cy="499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778"/>
              </a:lnSpc>
              <a:buNone/>
            </a:pPr>
            <a:r>
              <a:rPr lang="en-US" sz="3300" dirty="0">
                <a:solidFill>
                  <a:srgbClr val="0B5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3525589" y="2817465"/>
            <a:ext cx="1820614" cy="1557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Communicate a change freeze for those resource types to affected teams.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5660529" y="1965945"/>
            <a:ext cx="2220664" cy="3293641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BE3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98654" y="2204070"/>
            <a:ext cx="1918856" cy="499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778"/>
              </a:lnSpc>
              <a:buNone/>
            </a:pPr>
            <a:r>
              <a:rPr lang="en-US" sz="3300" dirty="0">
                <a:solidFill>
                  <a:srgbClr val="BE3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33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98654" y="2817465"/>
            <a:ext cx="228600" cy="2286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898654" y="3198465"/>
            <a:ext cx="1820614" cy="18610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the wave: revoke GUI write permissions for in-scope resources - no side-door edits mid-import.</a:t>
            </a:r>
            <a:endParaRPr lang="en-US" sz="1650" dirty="0"/>
          </a:p>
        </p:txBody>
      </p:sp>
      <p:sp>
        <p:nvSpPr>
          <p:cNvPr id="13" name="Shape 10"/>
          <p:cNvSpPr/>
          <p:nvPr/>
        </p:nvSpPr>
        <p:spPr>
          <a:xfrm>
            <a:off x="8033593" y="1965945"/>
            <a:ext cx="2220739" cy="3293641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71718" y="2204070"/>
            <a:ext cx="1918938" cy="499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778"/>
              </a:lnSpc>
              <a:buNone/>
            </a:pPr>
            <a:r>
              <a:rPr lang="en-US" sz="3300" dirty="0">
                <a:solidFill>
                  <a:srgbClr val="0B5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3300" dirty="0"/>
          </a:p>
        </p:txBody>
      </p:sp>
      <p:sp>
        <p:nvSpPr>
          <p:cNvPr id="15" name="Text 12"/>
          <p:cNvSpPr/>
          <p:nvPr/>
        </p:nvSpPr>
        <p:spPr>
          <a:xfrm>
            <a:off x="8271718" y="2817465"/>
            <a:ext cx="1918938" cy="3419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import.</a:t>
            </a:r>
            <a:endParaRPr lang="en-US" sz="1650" dirty="0"/>
          </a:p>
        </p:txBody>
      </p:sp>
      <p:sp>
        <p:nvSpPr>
          <p:cNvPr id="16" name="Shape 13"/>
          <p:cNvSpPr/>
          <p:nvPr/>
        </p:nvSpPr>
        <p:spPr>
          <a:xfrm>
            <a:off x="10406732" y="1965945"/>
            <a:ext cx="2220664" cy="3293641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644857" y="2204070"/>
            <a:ext cx="1918856" cy="499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778"/>
              </a:lnSpc>
              <a:buNone/>
            </a:pPr>
            <a:r>
              <a:rPr lang="en-US" sz="3300" dirty="0">
                <a:solidFill>
                  <a:srgbClr val="0B5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3300" dirty="0"/>
          </a:p>
        </p:txBody>
      </p:sp>
      <p:sp>
        <p:nvSpPr>
          <p:cNvPr id="18" name="Text 15"/>
          <p:cNvSpPr/>
          <p:nvPr/>
        </p:nvSpPr>
        <p:spPr>
          <a:xfrm>
            <a:off x="10644857" y="2817465"/>
            <a:ext cx="1820614" cy="645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the import succeeded.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2779797" y="1965945"/>
            <a:ext cx="2220664" cy="3293641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3017922" y="2204070"/>
            <a:ext cx="1918856" cy="499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778"/>
              </a:lnSpc>
              <a:buNone/>
            </a:pPr>
            <a:r>
              <a:rPr lang="en-US" sz="3300" dirty="0">
                <a:solidFill>
                  <a:srgbClr val="0B5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3300" dirty="0"/>
          </a:p>
        </p:txBody>
      </p:sp>
      <p:sp>
        <p:nvSpPr>
          <p:cNvPr id="21" name="Text 18"/>
          <p:cNvSpPr/>
          <p:nvPr/>
        </p:nvSpPr>
        <p:spPr>
          <a:xfrm>
            <a:off x="13017922" y="2817465"/>
            <a:ext cx="1820614" cy="18610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 example documentation showing how to manage the resource via Terraform in BAU.</a:t>
            </a:r>
            <a:endParaRPr lang="en-US" sz="1650" dirty="0"/>
          </a:p>
        </p:txBody>
      </p:sp>
      <p:sp>
        <p:nvSpPr>
          <p:cNvPr id="22" name="Shape 19"/>
          <p:cNvSpPr/>
          <p:nvPr/>
        </p:nvSpPr>
        <p:spPr>
          <a:xfrm>
            <a:off x="15152861" y="1965945"/>
            <a:ext cx="2220664" cy="3293641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5390986" y="2204070"/>
            <a:ext cx="1918856" cy="499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778"/>
              </a:lnSpc>
              <a:buNone/>
            </a:pPr>
            <a:r>
              <a:rPr lang="en-US" sz="3300" dirty="0">
                <a:solidFill>
                  <a:srgbClr val="0B5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3300" dirty="0"/>
          </a:p>
        </p:txBody>
      </p:sp>
      <p:sp>
        <p:nvSpPr>
          <p:cNvPr id="24" name="Text 21"/>
          <p:cNvSpPr/>
          <p:nvPr/>
        </p:nvSpPr>
        <p:spPr>
          <a:xfrm>
            <a:off x="15390986" y="2817465"/>
            <a:ext cx="1820614" cy="1557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Announce to all teams: the resource is now Terraform-managed.</a:t>
            </a:r>
            <a:endParaRPr lang="en-US" sz="1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8105120" cy="7086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103"/>
              </a:lnSpc>
              <a:buNone/>
            </a:pPr>
            <a:r>
              <a:rPr lang="en-US" sz="4800" b="1" dirty="0">
                <a:solidFill>
                  <a:srgbClr val="0F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Tools and helpers</a:t>
            </a:r>
            <a:endParaRPr lang="en-US" sz="4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965945"/>
            <a:ext cx="5334000" cy="7048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239000" y="1965945"/>
            <a:ext cx="10450068" cy="12811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Tidy-up tooling: </a:t>
            </a:r>
            <a:pPr algn="l" indent="0" marL="0">
              <a:lnSpc>
                <a:spcPct val="126087"/>
              </a:lnSpc>
              <a:buNone/>
            </a:pPr>
            <a:r>
              <a:rPr lang="en-US" sz="1980" dirty="0">
                <a:solidFill>
                  <a:srgbClr val="0B5FA5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PRUNE </a:t>
            </a:r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exported JSON of unused resources; </a:t>
            </a:r>
            <a:pPr algn="l" indent="0" marL="0">
              <a:lnSpc>
                <a:spcPct val="126087"/>
              </a:lnSpc>
              <a:buNone/>
            </a:pPr>
            <a:r>
              <a:rPr lang="en-US" sz="1980" dirty="0">
                <a:solidFill>
                  <a:srgbClr val="0B5FA5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jamf-resource-deleter </a:t>
            </a:r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(PyPI) deleted them, backing each one up to JSON with a restore path.</a:t>
            </a:r>
            <a:endParaRPr lang="en-US" sz="2250" dirty="0"/>
          </a:p>
        </p:txBody>
      </p:sp>
      <p:sp>
        <p:nvSpPr>
          <p:cNvPr id="5" name="Text 2"/>
          <p:cNvSpPr/>
          <p:nvPr/>
        </p:nvSpPr>
        <p:spPr>
          <a:xfrm>
            <a:off x="7239000" y="3437558"/>
            <a:ext cx="1118616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driven by the jamfpro Python SDK.</a:t>
            </a:r>
            <a:endParaRPr lang="en-US" sz="2250" dirty="0"/>
          </a:p>
        </p:txBody>
      </p:sp>
      <p:sp>
        <p:nvSpPr>
          <p:cNvPr id="6" name="Text 3"/>
          <p:cNvSpPr/>
          <p:nvPr/>
        </p:nvSpPr>
        <p:spPr>
          <a:xfrm>
            <a:off x="7239000" y="4080495"/>
            <a:ext cx="10450068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migration candidate got a script that pulled live config and emitted a structured map, shaped for a Terraform </a:t>
            </a:r>
            <a:pPr algn="l" indent="0" marL="0">
              <a:lnSpc>
                <a:spcPct val="126087"/>
              </a:lnSpc>
              <a:buNone/>
            </a:pPr>
            <a:r>
              <a:rPr lang="en-US" sz="1980" dirty="0">
                <a:solidFill>
                  <a:srgbClr val="0B5FA5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</a:t>
            </a:r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duplicates and all.</a:t>
            </a:r>
            <a:endParaRPr lang="en-US" sz="2250" dirty="0"/>
          </a:p>
        </p:txBody>
      </p:sp>
      <p:sp>
        <p:nvSpPr>
          <p:cNvPr id="7" name="Text 4"/>
          <p:cNvSpPr/>
          <p:nvPr/>
        </p:nvSpPr>
        <p:spPr>
          <a:xfrm>
            <a:off x="7239000" y="5137770"/>
            <a:ext cx="10450068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pasted into a </a:t>
            </a:r>
            <a:pPr algn="l" indent="0" marL="0">
              <a:lnSpc>
                <a:spcPct val="126087"/>
              </a:lnSpc>
              <a:buNone/>
            </a:pPr>
            <a:r>
              <a:rPr lang="en-US" sz="1980" dirty="0">
                <a:solidFill>
                  <a:srgbClr val="0B5FA5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a single resource block with </a:t>
            </a:r>
            <a:pPr algn="l" indent="0" marL="0">
              <a:lnSpc>
                <a:spcPct val="126087"/>
              </a:lnSpc>
              <a:buNone/>
            </a:pPr>
            <a:r>
              <a:rPr lang="en-US" sz="1980" dirty="0">
                <a:solidFill>
                  <a:srgbClr val="0B5FA5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for_each </a:t>
            </a:r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conditionals and dynamic blocks loops over it to create/import every instance of that type.</a:t>
            </a:r>
            <a:endParaRPr lang="en-US" sz="2250" dirty="0"/>
          </a:p>
        </p:txBody>
      </p:sp>
      <p:sp>
        <p:nvSpPr>
          <p:cNvPr id="8" name="Text 5"/>
          <p:cNvSpPr/>
          <p:nvPr/>
        </p:nvSpPr>
        <p:spPr>
          <a:xfrm>
            <a:off x="7239000" y="6195045"/>
            <a:ext cx="1118616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Regex mop-up pass to tidy the generated output.</a:t>
            </a:r>
            <a:endParaRPr lang="en-US" sz="2250" dirty="0"/>
          </a:p>
        </p:txBody>
      </p:sp>
      <p:sp>
        <p:nvSpPr>
          <p:cNvPr id="9" name="Text 6"/>
          <p:cNvSpPr/>
          <p:nvPr/>
        </p:nvSpPr>
        <p:spPr>
          <a:xfrm>
            <a:off x="7239000" y="6837983"/>
            <a:ext cx="10450068" cy="12811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Rejected </a:t>
            </a:r>
            <a:pPr algn="l" indent="0" marL="0">
              <a:lnSpc>
                <a:spcPct val="126087"/>
              </a:lnSpc>
              <a:buNone/>
            </a:pPr>
            <a:r>
              <a:rPr lang="en-US" sz="1980" dirty="0">
                <a:solidFill>
                  <a:srgbClr val="0B5FA5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terraform plan -generate-config-out </a:t>
            </a:r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it emits one HCL block per resource; we wanted one block per resource type driven by data. </a:t>
            </a:r>
            <a:pPr algn="l" indent="0" marL="0">
              <a:lnSpc>
                <a:spcPct val="126087"/>
              </a:lnSpc>
              <a:buNone/>
            </a:pPr>
            <a:r>
              <a:rPr lang="en-US" sz="1350" dirty="0">
                <a:solidFill>
                  <a:srgbClr val="9A6A00"/>
                </a:solidFill>
                <a:highlight>
                  <a:srgbClr val="F3EDE0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TODO Q9: confirm truncated sentence</a:t>
            </a:r>
            <a:endParaRPr lang="en-US" sz="2250" dirty="0"/>
          </a:p>
        </p:txBody>
      </p:sp>
      <p:sp>
        <p:nvSpPr>
          <p:cNvPr id="10" name="Text 7"/>
          <p:cNvSpPr/>
          <p:nvPr/>
        </p:nvSpPr>
        <p:spPr>
          <a:xfrm>
            <a:off x="7239000" y="8309595"/>
            <a:ext cx="10450068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AI-assisted validation of configuration and dependency links - mostly Copilot CLI.</a:t>
            </a:r>
            <a:endParaRPr lang="en-US" sz="2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8105120" cy="7086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103"/>
              </a:lnSpc>
              <a:buNone/>
            </a:pPr>
            <a:r>
              <a:rPr lang="en-US" sz="4800" b="1" dirty="0">
                <a:solidFill>
                  <a:srgbClr val="0F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Dynamic creation with </a:t>
            </a:r>
            <a:pPr algn="l" indent="0" marL="0">
              <a:lnSpc>
                <a:spcPct val="97103"/>
              </a:lnSpc>
              <a:buNone/>
            </a:pPr>
            <a:r>
              <a:rPr lang="en-US" sz="4800" b="1" dirty="0">
                <a:solidFill>
                  <a:srgbClr val="0F1F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for_each </a:t>
            </a:r>
            <a:pPr algn="l" indent="0" marL="0">
              <a:lnSpc>
                <a:spcPct val="97103"/>
              </a:lnSpc>
              <a:buNone/>
            </a:pPr>
            <a:r>
              <a:rPr lang="en-US" sz="1350" dirty="0">
                <a:solidFill>
                  <a:srgbClr val="9A6A00"/>
                </a:solidFill>
                <a:highlight>
                  <a:srgbClr val="F3EDE0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TODO: paste sanitised real HCL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914400" y="1965945"/>
            <a:ext cx="8843010" cy="3419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spc="198" kern="0" dirty="0">
                <a:solidFill>
                  <a:srgbClr val="5B6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GENERATE-CONFIG-OUT STYLE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914400" y="2422178"/>
            <a:ext cx="8039100" cy="5143872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52525" y="2660303"/>
            <a:ext cx="7804023" cy="4705722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B5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06A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"jamfpro_script"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06A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"homebrew"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</a:t>
            </a:r>
            <a:endParaRPr lang="en-US" sz="1950" dirty="0"/>
          </a:p>
          <a:p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=  </a:t>
            </a:r>
            <a:endParaRPr lang="en-US" sz="1950" dirty="0"/>
          </a:p>
          <a:p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06A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"Install Homebrew"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category_id =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9A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5B6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 a dozen more attributes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B5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06A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"jamfpro_script"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06A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"homebrew_intel"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</a:t>
            </a:r>
            <a:endParaRPr lang="en-US" sz="1950" dirty="0"/>
          </a:p>
          <a:p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=  </a:t>
            </a:r>
            <a:endParaRPr lang="en-US" sz="1950" dirty="0"/>
          </a:p>
          <a:p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06A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"Install Homebrew (Intel)"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category_id =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9A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5B6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 a dozen more attributes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5B6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block per script, for every script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334500" y="1965945"/>
            <a:ext cx="8843010" cy="3419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spc="198" kern="0" dirty="0">
                <a:solidFill>
                  <a:srgbClr val="006A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OURS, AFTER THE PASSES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9334500" y="2422178"/>
            <a:ext cx="8039100" cy="5181972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28575">
            <a:solidFill>
              <a:srgbClr val="00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91675" y="2679353"/>
            <a:ext cx="7765923" cy="4705722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B5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locals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</a:t>
            </a:r>
            <a:endParaRPr lang="en-US" sz="1950" dirty="0"/>
          </a:p>
          <a:p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scripts = {</a:t>
            </a:r>
            <a:endParaRPr lang="en-US" sz="1950" dirty="0"/>
          </a:p>
          <a:p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950" dirty="0"/>
          </a:p>
          <a:p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06A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"Install Homebrew"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=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06A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"Engineering"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06A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"Install Homebrew (Intel)"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06A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"Engineering"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5B6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BAU change = append one line here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950" dirty="0"/>
          </a:p>
          <a:p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</a:t>
            </a:r>
            <a:endParaRPr lang="en-US" sz="1950" dirty="0"/>
          </a:p>
          <a:p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B5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06A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"jamfpro_script"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06A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"managed"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</a:t>
            </a:r>
            <a:endParaRPr lang="en-US" sz="1950" dirty="0"/>
          </a:p>
          <a:p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endParaRPr lang="en-US" sz="1950" dirty="0"/>
          </a:p>
          <a:p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B5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for_each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= local.scripts</a:t>
            </a:r>
            <a:endParaRPr lang="en-US" sz="1950" dirty="0"/>
          </a:p>
          <a:p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= each.key</a:t>
            </a:r>
            <a:endParaRPr lang="en-US" sz="1950" dirty="0"/>
          </a:p>
          <a:p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category_id = local.category_ids[each.value]</a:t>
            </a:r>
            <a:endParaRPr lang="en-US" sz="1950" dirty="0"/>
          </a:p>
          <a:p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14400" y="7985150"/>
            <a:ext cx="1810512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Adding script number two hundred is a one-line diff. Reviews read the data, not the boilerplate.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914400" y="8780487"/>
            <a:ext cx="18105120" cy="3419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5B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refinement passes, repeated until zero diff - Gordon imported verbosely; Joseph deduplicated, named the IDs and shared the locals, through February and March.</a:t>
            </a:r>
            <a:endParaRPr lang="en-US" sz="16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8105120" cy="7086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103"/>
              </a:lnSpc>
              <a:buNone/>
            </a:pPr>
            <a:r>
              <a:rPr lang="en-US" sz="4800" b="1" dirty="0">
                <a:solidFill>
                  <a:srgbClr val="0F1F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for_each </a:t>
            </a:r>
            <a:pPr algn="l" indent="0" marL="0">
              <a:lnSpc>
                <a:spcPct val="97103"/>
              </a:lnSpc>
              <a:buNone/>
            </a:pPr>
            <a:r>
              <a:rPr lang="en-US" sz="4800" b="1" dirty="0">
                <a:solidFill>
                  <a:srgbClr val="0F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exceptions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914400" y="1965945"/>
            <a:ext cx="16344900" cy="645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98"/>
              </a:lnSpc>
              <a:buNone/>
            </a:pPr>
            <a:r>
              <a:rPr lang="en-US" sz="330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parameter-map pattern is a default, not dogma.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914400" y="3183210"/>
            <a:ext cx="8039100" cy="3055590"/>
          </a:xfrm>
          <a:prstGeom prst="roundRect">
            <a:avLst>
              <a:gd name="adj" fmla="val 3741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33525" y="3802335"/>
            <a:ext cx="7480935" cy="645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8889"/>
              </a:lnSpc>
              <a:buNone/>
            </a:pPr>
            <a:r>
              <a:rPr lang="en-US" sz="3300" b="1" dirty="0">
                <a:solidFill>
                  <a:srgbClr val="0F1F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Policies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333500" y="4638601"/>
            <a:ext cx="7077075" cy="1019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5B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Payload complexity</a:t>
            </a:r>
            <a:endParaRPr lang="en-US" sz="2250" dirty="0"/>
          </a:p>
          <a:p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5B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Readability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334500" y="3183210"/>
            <a:ext cx="8039100" cy="3055590"/>
          </a:xfrm>
          <a:prstGeom prst="roundRect">
            <a:avLst>
              <a:gd name="adj" fmla="val 3741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953625" y="3802335"/>
            <a:ext cx="7480935" cy="645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8889"/>
              </a:lnSpc>
              <a:buNone/>
            </a:pPr>
            <a:r>
              <a:rPr lang="en-US" sz="3300" b="1" dirty="0">
                <a:solidFill>
                  <a:srgbClr val="0F1F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 Items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9753600" y="4638601"/>
            <a:ext cx="7077075" cy="1019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5B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Payload complexity</a:t>
            </a:r>
            <a:endParaRPr lang="en-US" sz="2250" dirty="0"/>
          </a:p>
          <a:p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5B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Readability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914400" y="6848401"/>
            <a:ext cx="1810512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5B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map becomes harder to read than plain HCL, the pattern has stopped paying for itself.</a:t>
            </a:r>
            <a:endParaRPr lang="en-US" sz="2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8105120" cy="7086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103"/>
              </a:lnSpc>
              <a:buNone/>
            </a:pPr>
            <a:r>
              <a:rPr lang="en-US" sz="4800" b="1" dirty="0">
                <a:solidFill>
                  <a:srgbClr val="0F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Validating a migration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3238500" y="1965945"/>
            <a:ext cx="11811000" cy="2020119"/>
          </a:xfrm>
          <a:prstGeom prst="roundRect">
            <a:avLst>
              <a:gd name="adj" fmla="val 5658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48025" y="2432670"/>
            <a:ext cx="11791950" cy="9525"/>
          </a:xfrm>
          <a:prstGeom prst="rect">
            <a:avLst/>
          </a:prstGeom>
          <a:solidFill>
            <a:srgbClr val="D9E0DD"/>
          </a:solidFill>
          <a:ln/>
        </p:spPr>
      </p:sp>
      <p:sp>
        <p:nvSpPr>
          <p:cNvPr id="5" name="Shape 3"/>
          <p:cNvSpPr/>
          <p:nvPr/>
        </p:nvSpPr>
        <p:spPr>
          <a:xfrm>
            <a:off x="3476625" y="2127870"/>
            <a:ext cx="152400" cy="152400"/>
          </a:xfrm>
          <a:prstGeom prst="ellipse">
            <a:avLst/>
          </a:prstGeom>
          <a:solidFill>
            <a:srgbClr val="D9E0DD"/>
          </a:solidFill>
          <a:ln/>
        </p:spPr>
      </p:sp>
      <p:sp>
        <p:nvSpPr>
          <p:cNvPr id="6" name="Shape 4"/>
          <p:cNvSpPr/>
          <p:nvPr/>
        </p:nvSpPr>
        <p:spPr>
          <a:xfrm>
            <a:off x="3705225" y="2127870"/>
            <a:ext cx="152400" cy="152400"/>
          </a:xfrm>
          <a:prstGeom prst="ellipse">
            <a:avLst/>
          </a:prstGeom>
          <a:solidFill>
            <a:srgbClr val="D9E0DD"/>
          </a:solidFill>
          <a:ln/>
        </p:spPr>
      </p:sp>
      <p:sp>
        <p:nvSpPr>
          <p:cNvPr id="7" name="Shape 5"/>
          <p:cNvSpPr/>
          <p:nvPr/>
        </p:nvSpPr>
        <p:spPr>
          <a:xfrm>
            <a:off x="3933825" y="2127870"/>
            <a:ext cx="152400" cy="152400"/>
          </a:xfrm>
          <a:prstGeom prst="ellipse">
            <a:avLst/>
          </a:prstGeom>
          <a:solidFill>
            <a:srgbClr val="D9E0DD"/>
          </a:solidFill>
          <a:ln/>
        </p:spPr>
      </p:sp>
      <p:sp>
        <p:nvSpPr>
          <p:cNvPr id="8" name="Text 6"/>
          <p:cNvSpPr/>
          <p:nvPr/>
        </p:nvSpPr>
        <p:spPr>
          <a:xfrm>
            <a:off x="3629025" y="2670795"/>
            <a:ext cx="11383709" cy="1115244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5B6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terraform plan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177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changes. Your infrastructure matches the configuration.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914400" y="4595664"/>
            <a:ext cx="3943350" cy="2608808"/>
          </a:xfrm>
          <a:prstGeom prst="roundRect">
            <a:avLst>
              <a:gd name="adj" fmla="val 4381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52525" y="4833789"/>
            <a:ext cx="3813810" cy="499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778"/>
              </a:lnSpc>
              <a:buNone/>
            </a:pPr>
            <a:r>
              <a:rPr lang="en-US" sz="3300" dirty="0">
                <a:solidFill>
                  <a:srgbClr val="0B5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152525" y="5447184"/>
            <a:ext cx="3813810" cy="3419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452" dirty="0">
                <a:solidFill>
                  <a:srgbClr val="0B5FA5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terraform plan </a:t>
            </a:r>
            <a:pPr algn="l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returns zero diff.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5086350" y="4595664"/>
            <a:ext cx="3943350" cy="2608808"/>
          </a:xfrm>
          <a:prstGeom prst="roundRect">
            <a:avLst>
              <a:gd name="adj" fmla="val 4381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24475" y="4833789"/>
            <a:ext cx="3813810" cy="499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778"/>
              </a:lnSpc>
              <a:buNone/>
            </a:pPr>
            <a:r>
              <a:rPr lang="en-US" sz="3300" dirty="0">
                <a:solidFill>
                  <a:srgbClr val="0B5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5324475" y="5447184"/>
            <a:ext cx="3571113" cy="1557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is centralised in HCP and not locally inspectable - AI-assisted checks (Copilot CLI) confirmed each resource exists with the correct dependencies assigned.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9258300" y="4595664"/>
            <a:ext cx="3943350" cy="2608808"/>
          </a:xfrm>
          <a:prstGeom prst="roundRect">
            <a:avLst>
              <a:gd name="adj" fmla="val 4381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96425" y="4833789"/>
            <a:ext cx="3813810" cy="499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778"/>
              </a:lnSpc>
              <a:buNone/>
            </a:pPr>
            <a:r>
              <a:rPr lang="en-US" sz="3300" dirty="0">
                <a:solidFill>
                  <a:srgbClr val="0B5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9496425" y="5447184"/>
            <a:ext cx="3571113" cy="645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Sweep for orphaned resources living outside the HCL config.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3430250" y="4595664"/>
            <a:ext cx="3943350" cy="2608808"/>
          </a:xfrm>
          <a:prstGeom prst="roundRect">
            <a:avLst>
              <a:gd name="adj" fmla="val 4381"/>
            </a:avLst>
          </a:prstGeom>
          <a:solidFill>
            <a:srgbClr val="FFFFFF"/>
          </a:solidFill>
          <a:ln w="9525">
            <a:solidFill>
              <a:srgbClr val="BE3A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668375" y="4833789"/>
            <a:ext cx="3813810" cy="499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778"/>
              </a:lnSpc>
              <a:buNone/>
            </a:pPr>
            <a:r>
              <a:rPr lang="en-US" sz="3300" dirty="0">
                <a:solidFill>
                  <a:srgbClr val="BE3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13668375" y="5447184"/>
            <a:ext cx="3571113" cy="9495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after all checks pass: remove UI write permissions for that resource type.</a:t>
            </a:r>
            <a:endParaRPr lang="en-US" sz="16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8105120" cy="7086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103"/>
              </a:lnSpc>
              <a:buNone/>
            </a:pPr>
            <a:r>
              <a:rPr lang="en-US" sz="4800" b="1" dirty="0">
                <a:solidFill>
                  <a:srgbClr val="0F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Growing pains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914400" y="1965945"/>
            <a:ext cx="15304770" cy="12534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98"/>
              </a:lnSpc>
              <a:buNone/>
            </a:pPr>
            <a:r>
              <a:rPr lang="en-US" sz="330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March, one directory - </a:t>
            </a:r>
            <a:pPr algn="l" indent="0" marL="0">
              <a:lnSpc>
                <a:spcPct val="125098"/>
              </a:lnSpc>
              <a:buNone/>
            </a:pPr>
            <a:r>
              <a:rPr lang="en-US" sz="2904" dirty="0">
                <a:solidFill>
                  <a:srgbClr val="0B5FA5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terraform/jamfpro </a:t>
            </a:r>
            <a:pPr algn="l" indent="0" marL="0">
              <a:lnSpc>
                <a:spcPct val="125098"/>
              </a:lnSpc>
              <a:buNone/>
            </a:pPr>
            <a:r>
              <a:rPr lang="en-US" sz="330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served every instance, and instance-specific behaviour hung off conditionals keyed on the FQDN.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914400" y="3790876"/>
            <a:ext cx="11811000" cy="3348633"/>
          </a:xfrm>
          <a:prstGeom prst="roundRect">
            <a:avLst>
              <a:gd name="adj" fmla="val 3413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52525" y="4029001"/>
            <a:ext cx="11689080" cy="29104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B5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locals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</a:t>
            </a:r>
            <a:endParaRPr lang="en-US" sz="1950" dirty="0"/>
          </a:p>
          <a:p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is_staging = can(regex(</a:t>
            </a:r>
            <a:endParaRPr lang="en-US" sz="1950" dirty="0"/>
          </a:p>
          <a:p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06A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"staging"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var.jamfpro_fqdn))</a:t>
            </a:r>
            <a:endParaRPr lang="en-US" sz="1950" dirty="0"/>
          </a:p>
          <a:p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</a:t>
            </a:r>
            <a:endParaRPr lang="en-US" sz="1950" dirty="0"/>
          </a:p>
          <a:p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B5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06A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"jamfpro_policy"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06A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"maintenance"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</a:t>
            </a:r>
            <a:endParaRPr lang="en-US" sz="1950" dirty="0"/>
          </a:p>
          <a:p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count = local.is_staging ?  </a:t>
            </a:r>
            <a:endParaRPr lang="en-US" sz="1950" dirty="0"/>
          </a:p>
          <a:p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9A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9A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5B6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deployment behaviour inferred from a URL - everywhere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7520508"/>
            <a:ext cx="15304770" cy="12534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98"/>
              </a:lnSpc>
              <a:buNone/>
            </a:pPr>
            <a:r>
              <a:rPr lang="en-US" sz="330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got out of hand. The pivot: shared modules own the configuration; thin per-instance roots own only what genuinely differs. </a:t>
            </a:r>
            <a:pPr algn="l" indent="0" marL="0">
              <a:lnSpc>
                <a:spcPct val="125098"/>
              </a:lnSpc>
              <a:buNone/>
            </a:pPr>
            <a:r>
              <a:rPr lang="en-US" sz="1350" dirty="0">
                <a:solidFill>
                  <a:srgbClr val="9A6A00"/>
                </a:solidFill>
                <a:highlight>
                  <a:srgbClr val="F3EDE0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TODO: real conditional example</a:t>
            </a:r>
            <a:endParaRPr lang="en-US" sz="3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8105120" cy="7086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103"/>
              </a:lnSpc>
              <a:buNone/>
            </a:pPr>
            <a:r>
              <a:rPr lang="en-US" sz="4800" b="1" dirty="0">
                <a:solidFill>
                  <a:srgbClr val="0F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module structure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914400" y="1965945"/>
            <a:ext cx="7429500" cy="5502920"/>
          </a:xfrm>
          <a:prstGeom prst="roundRect">
            <a:avLst>
              <a:gd name="adj" fmla="val 2077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52525" y="2204070"/>
            <a:ext cx="7176135" cy="506477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terraform/</a:t>
            </a:r>
            <a:endParaRPr lang="en-US" sz="1950" dirty="0"/>
          </a:p>
          <a:p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modules/</a:t>
            </a:r>
            <a:endParaRPr lang="en-US" sz="1950" dirty="0"/>
          </a:p>
          <a:p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├─ iam_main/</a:t>
            </a:r>
            <a:endParaRPr lang="en-US" sz="1950" dirty="0"/>
          </a:p>
          <a:p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├─ profiles_policies_main/</a:t>
            </a:r>
            <a:endParaRPr lang="en-US" sz="1950" dirty="0"/>
          </a:p>
          <a:p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└─ root_main/</a:t>
            </a:r>
            <a:endParaRPr lang="en-US" sz="1950" dirty="0"/>
          </a:p>
          <a:p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prod/</a:t>
            </a:r>
            <a:endParaRPr lang="en-US" sz="1950" dirty="0"/>
          </a:p>
          <a:p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├─ lbgstaging/</a:t>
            </a:r>
            <a:endParaRPr lang="en-US" sz="1950" dirty="0"/>
          </a:p>
          <a:p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│  ├─ iam/                </a:t>
            </a:r>
            <a:endParaRPr lang="en-US" sz="1950" dirty="0"/>
          </a:p>
          <a:p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B5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workspace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│  ├─ profiles_policies/ 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B5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workspace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│  └─ root/              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B5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workspace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 lbgbusiness/</a:t>
            </a:r>
            <a:endParaRPr lang="en-US" sz="1950" dirty="0"/>
          </a:p>
          <a:p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├─ iam/                </a:t>
            </a:r>
            <a:endParaRPr lang="en-US" sz="1950" dirty="0"/>
          </a:p>
          <a:p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B5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workspace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├─ profiles_policies/ 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B5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workspace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F1F1A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└─ root/               </a:t>
            </a:r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B5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workspace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9334500" y="1965945"/>
            <a:ext cx="8291703" cy="12811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shared modules hold the configuration - and its payloads: privilege-set JSON, </a:t>
            </a:r>
            <a:pPr algn="l" indent="0" marL="0">
              <a:lnSpc>
                <a:spcPct val="126087"/>
              </a:lnSpc>
              <a:buNone/>
            </a:pPr>
            <a:r>
              <a:rPr lang="en-US" sz="1980" dirty="0">
                <a:solidFill>
                  <a:srgbClr val="0B5FA5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.mobileconfig </a:t>
            </a:r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profiles, scripts, Self Service icons, descriptions.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9334500" y="3437558"/>
            <a:ext cx="8291703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instance calls the modules from thin roots, plus a small </a:t>
            </a:r>
            <a:pPr algn="l" indent="0" marL="0">
              <a:lnSpc>
                <a:spcPct val="126087"/>
              </a:lnSpc>
              <a:buNone/>
            </a:pPr>
            <a:r>
              <a:rPr lang="en-US" sz="1980" dirty="0">
                <a:solidFill>
                  <a:srgbClr val="0B5FA5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specific_to_here.tf </a:t>
            </a:r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genuine differences.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9334500" y="4494833"/>
            <a:ext cx="8291703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root maps one-to-one to an HCP Terraform workspace - three per instance, bounding the blast radius of any single run.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9334500" y="5552108"/>
            <a:ext cx="8291703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Divergence is visible, not hidden: staging-only profiles sit in the module as </a:t>
            </a:r>
            <a:pPr algn="l" indent="0" marL="0">
              <a:lnSpc>
                <a:spcPct val="126087"/>
              </a:lnSpc>
              <a:buNone/>
            </a:pPr>
            <a:r>
              <a:rPr lang="en-US" sz="1980" dirty="0">
                <a:solidFill>
                  <a:srgbClr val="0B5FA5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profile_staging_only/</a:t>
            </a:r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7885137"/>
            <a:ext cx="3420517" cy="267593"/>
          </a:xfrm>
          <a:prstGeom prst="roundRect">
            <a:avLst>
              <a:gd name="adj" fmla="val 21357"/>
            </a:avLst>
          </a:prstGeom>
          <a:solidFill>
            <a:srgbClr val="9C6B00">
              <a:alpha val="12000"/>
            </a:srgbClr>
          </a:solidFill>
          <a:ln w="9525">
            <a:solidFill>
              <a:srgbClr val="9A6A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6325" y="7894662"/>
            <a:ext cx="3438718" cy="28664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27317"/>
              </a:lnSpc>
              <a:buNone/>
            </a:pPr>
            <a:r>
              <a:rPr lang="en-US" sz="1350" dirty="0">
                <a:solidFill>
                  <a:srgbClr val="9A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TODO: sandbox workspace layout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93183" y="7885137"/>
            <a:ext cx="2697956" cy="267593"/>
          </a:xfrm>
          <a:prstGeom prst="roundRect">
            <a:avLst>
              <a:gd name="adj" fmla="val 21357"/>
            </a:avLst>
          </a:prstGeom>
          <a:solidFill>
            <a:srgbClr val="9C6B00">
              <a:alpha val="12000"/>
            </a:srgbClr>
          </a:solidFill>
          <a:ln w="9525">
            <a:solidFill>
              <a:srgbClr val="9A6A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55108" y="7894662"/>
            <a:ext cx="2643902" cy="28664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27317"/>
              </a:lnSpc>
              <a:buNone/>
            </a:pPr>
            <a:r>
              <a:rPr lang="en-US" sz="1350" dirty="0">
                <a:solidFill>
                  <a:srgbClr val="9A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TODO: plan-time figures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8105120" cy="7086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103"/>
              </a:lnSpc>
              <a:buNone/>
            </a:pPr>
            <a:r>
              <a:rPr lang="en-US" sz="4800" b="1" dirty="0">
                <a:solidFill>
                  <a:srgbClr val="0F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Rebuilding staging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914400" y="1965945"/>
            <a:ext cx="15304770" cy="12534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98"/>
              </a:lnSpc>
              <a:buNone/>
            </a:pPr>
            <a:r>
              <a:rPr lang="en-US" sz="330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was fully code. Staging was still years of drift - importing that drift would only have enshrined it. So it was not imported at all.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914400" y="3790876"/>
            <a:ext cx="5334000" cy="1697310"/>
          </a:xfrm>
          <a:prstGeom prst="roundRect">
            <a:avLst>
              <a:gd name="adj" fmla="val 6734"/>
            </a:avLst>
          </a:prstGeom>
          <a:solidFill>
            <a:srgbClr val="FFFFFF"/>
          </a:solidFill>
          <a:ln w="9525">
            <a:solidFill>
              <a:srgbClr val="BE3A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52525" y="4029001"/>
            <a:ext cx="5343525" cy="499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778"/>
              </a:lnSpc>
              <a:buNone/>
            </a:pPr>
            <a:r>
              <a:rPr lang="en-US" sz="3300" dirty="0">
                <a:solidFill>
                  <a:srgbClr val="BE3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152525" y="4642396"/>
            <a:ext cx="5003483" cy="645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Wipe. </a:t>
            </a:r>
            <a:pPr algn="l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Staging cleared out, keeping only the essentials - APNS, cloud identity provider.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77000" y="3790876"/>
            <a:ext cx="5334000" cy="1697310"/>
          </a:xfrm>
          <a:prstGeom prst="roundRect">
            <a:avLst>
              <a:gd name="adj" fmla="val 6734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15125" y="4029001"/>
            <a:ext cx="5343525" cy="499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778"/>
              </a:lnSpc>
              <a:buNone/>
            </a:pPr>
            <a:r>
              <a:rPr lang="en-US" sz="3300" dirty="0">
                <a:solidFill>
                  <a:srgbClr val="0B5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6715125" y="4642396"/>
            <a:ext cx="5003483" cy="645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Apply. </a:t>
            </a:r>
            <a:pPr algn="l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Production's configuration pointed at the empty instance.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12039600" y="3790876"/>
            <a:ext cx="5334000" cy="1697310"/>
          </a:xfrm>
          <a:prstGeom prst="roundRect">
            <a:avLst>
              <a:gd name="adj" fmla="val 6734"/>
            </a:avLst>
          </a:prstGeom>
          <a:solidFill>
            <a:srgbClr val="FFFFFF"/>
          </a:solidFill>
          <a:ln w="9525">
            <a:solidFill>
              <a:srgbClr val="177A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277725" y="4029001"/>
            <a:ext cx="5343525" cy="499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778"/>
              </a:lnSpc>
              <a:buNone/>
            </a:pPr>
            <a:r>
              <a:rPr lang="en-US" sz="3300" dirty="0">
                <a:solidFill>
                  <a:srgbClr val="177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12277725" y="4642396"/>
            <a:ext cx="5003483" cy="645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Iterate. </a:t>
            </a:r>
            <a:pPr algn="l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Plenty of errors, pass after pass of refinement, until the run came back clean.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914400" y="5869186"/>
            <a:ext cx="16952976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Staging no longer claims parity with production - it inherits it, built from the same modules. </a:t>
            </a:r>
            <a:pPr algn="l" indent="0" marL="0">
              <a:lnSpc>
                <a:spcPct val="126087"/>
              </a:lnSpc>
              <a:buNone/>
            </a:pPr>
            <a:r>
              <a:rPr lang="en-US" sz="1350" dirty="0">
                <a:solidFill>
                  <a:srgbClr val="9A6A00"/>
                </a:solidFill>
                <a:highlight>
                  <a:srgbClr val="F3EDE0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TODO (Mac engineer): confirm kept-items and timing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14400" y="7078861"/>
            <a:ext cx="18105120" cy="3419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5B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also where the module split earned its keep - a lot was learned here about designing one repo to serve multiple environments cleanly.</a:t>
            </a:r>
            <a:endParaRPr lang="en-US" sz="16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8105120" cy="7086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103"/>
              </a:lnSpc>
              <a:buNone/>
            </a:pPr>
            <a:r>
              <a:rPr lang="en-US" sz="4800" b="1" dirty="0">
                <a:solidFill>
                  <a:srgbClr val="0F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Refinements along the way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914400" y="1965945"/>
            <a:ext cx="16459200" cy="1518270"/>
          </a:xfrm>
          <a:prstGeom prst="roundRect">
            <a:avLst>
              <a:gd name="adj" fmla="val 7528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304925" y="2204070"/>
            <a:ext cx="17245965" cy="3419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5B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to live, today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1304925" y="2660303"/>
            <a:ext cx="1680567" cy="585788"/>
          </a:xfrm>
          <a:prstGeom prst="roundRect">
            <a:avLst>
              <a:gd name="adj" fmla="val 9756"/>
            </a:avLst>
          </a:prstGeom>
          <a:solidFill>
            <a:srgbClr val="F6F8F7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04950" y="2746028"/>
            <a:ext cx="1280517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27941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DevTest</a:t>
            </a:r>
            <a:endParaRPr lang="en-US" sz="225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214092" y="2857946"/>
            <a:ext cx="381000" cy="1905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823692" y="2660303"/>
            <a:ext cx="1680567" cy="585788"/>
          </a:xfrm>
          <a:prstGeom prst="roundRect">
            <a:avLst>
              <a:gd name="adj" fmla="val 9756"/>
            </a:avLst>
          </a:prstGeom>
          <a:solidFill>
            <a:srgbClr val="F6F8F7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023717" y="2746028"/>
            <a:ext cx="1280517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27941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Staging</a:t>
            </a:r>
            <a:endParaRPr lang="en-US" sz="22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32859" y="2857946"/>
            <a:ext cx="381000" cy="1905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342459" y="2660303"/>
            <a:ext cx="2196629" cy="585788"/>
          </a:xfrm>
          <a:prstGeom prst="roundRect">
            <a:avLst>
              <a:gd name="adj" fmla="val 9756"/>
            </a:avLst>
          </a:prstGeom>
          <a:solidFill>
            <a:srgbClr val="F6F8F7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542484" y="2746028"/>
            <a:ext cx="1796579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27941"/>
              </a:lnSpc>
              <a:buNone/>
            </a:pPr>
            <a:r>
              <a:rPr lang="en-US" sz="2250" dirty="0">
                <a:solidFill>
                  <a:srgbClr val="0F1F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Production</a:t>
            </a:r>
            <a:endParaRPr lang="en-US" sz="2250" dirty="0"/>
          </a:p>
        </p:txBody>
      </p:sp>
      <p:sp>
        <p:nvSpPr>
          <p:cNvPr id="13" name="Shape 9"/>
          <p:cNvSpPr/>
          <p:nvPr/>
        </p:nvSpPr>
        <p:spPr>
          <a:xfrm>
            <a:off x="13410158" y="2660303"/>
            <a:ext cx="3572917" cy="585788"/>
          </a:xfrm>
          <a:prstGeom prst="roundRect">
            <a:avLst>
              <a:gd name="adj" fmla="val 9756"/>
            </a:avLst>
          </a:prstGeom>
          <a:solidFill>
            <a:srgbClr val="F6F8F7"/>
          </a:solidFill>
          <a:ln w="9525">
            <a:solidFill>
              <a:srgbClr val="D9E0DD"/>
            </a:solidFill>
            <a:prstDash val="dash"/>
          </a:ln>
        </p:spPr>
      </p:sp>
      <p:sp>
        <p:nvSpPr>
          <p:cNvPr id="14" name="Text 10"/>
          <p:cNvSpPr/>
          <p:nvPr/>
        </p:nvSpPr>
        <p:spPr>
          <a:xfrm>
            <a:off x="13594689" y="2746028"/>
            <a:ext cx="3203854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27941"/>
              </a:lnSpc>
              <a:buNone/>
            </a:pPr>
            <a:r>
              <a:rPr lang="en-US" sz="2250" dirty="0">
                <a:solidFill>
                  <a:srgbClr val="5B6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Sandbox - CLI-only</a:t>
            </a:r>
            <a:endParaRPr lang="en-US" sz="2250" dirty="0"/>
          </a:p>
        </p:txBody>
      </p:sp>
      <p:sp>
        <p:nvSpPr>
          <p:cNvPr id="15" name="Shape 11"/>
          <p:cNvSpPr/>
          <p:nvPr/>
        </p:nvSpPr>
        <p:spPr>
          <a:xfrm>
            <a:off x="914400" y="3865215"/>
            <a:ext cx="5543476" cy="3374603"/>
          </a:xfrm>
          <a:prstGeom prst="roundRect">
            <a:avLst>
              <a:gd name="adj" fmla="val 3387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304925" y="4255740"/>
            <a:ext cx="2963495" cy="499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4902"/>
              </a:lnSpc>
              <a:buNone/>
            </a:pPr>
            <a:r>
              <a:rPr lang="en-US" sz="33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DevTest joins</a:t>
            </a:r>
            <a:endParaRPr lang="en-US" sz="3300" dirty="0"/>
          </a:p>
        </p:txBody>
      </p:sp>
      <p:sp>
        <p:nvSpPr>
          <p:cNvPr id="17" name="Text 13"/>
          <p:cNvSpPr/>
          <p:nvPr/>
        </p:nvSpPr>
        <p:spPr>
          <a:xfrm>
            <a:off x="1304925" y="4869135"/>
            <a:ext cx="4905298" cy="645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5B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Brought in recently as the first stop on the route to live - a single CLI-triggered workspace.</a:t>
            </a:r>
            <a:endParaRPr lang="en-US" sz="1650" dirty="0"/>
          </a:p>
        </p:txBody>
      </p:sp>
      <p:sp>
        <p:nvSpPr>
          <p:cNvPr id="18" name="Shape 14"/>
          <p:cNvSpPr/>
          <p:nvPr/>
        </p:nvSpPr>
        <p:spPr>
          <a:xfrm>
            <a:off x="1304925" y="5629201"/>
            <a:ext cx="4762426" cy="267593"/>
          </a:xfrm>
          <a:prstGeom prst="roundRect">
            <a:avLst>
              <a:gd name="adj" fmla="val 21357"/>
            </a:avLst>
          </a:prstGeom>
          <a:solidFill>
            <a:srgbClr val="9C6B00">
              <a:alpha val="12000"/>
            </a:srgbClr>
          </a:solidFill>
          <a:ln w="9525">
            <a:solidFill>
              <a:srgbClr val="9A6A00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1466850" y="5638726"/>
            <a:ext cx="4914818" cy="28664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27317"/>
              </a:lnSpc>
              <a:buNone/>
            </a:pPr>
            <a:r>
              <a:rPr lang="en-US" sz="1350" dirty="0">
                <a:solidFill>
                  <a:srgbClr val="9A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TODO (Mac engineer): clarify instance roles</a:t>
            </a:r>
            <a:endParaRPr lang="en-US" sz="1350" dirty="0"/>
          </a:p>
        </p:txBody>
      </p:sp>
      <p:sp>
        <p:nvSpPr>
          <p:cNvPr id="20" name="Shape 16"/>
          <p:cNvSpPr/>
          <p:nvPr/>
        </p:nvSpPr>
        <p:spPr>
          <a:xfrm>
            <a:off x="6838876" y="3865215"/>
            <a:ext cx="5076825" cy="3374603"/>
          </a:xfrm>
          <a:prstGeom prst="roundRect">
            <a:avLst>
              <a:gd name="adj" fmla="val 3387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229401" y="4255740"/>
            <a:ext cx="4123879" cy="499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4902"/>
              </a:lnSpc>
              <a:buNone/>
            </a:pPr>
            <a:r>
              <a:rPr lang="en-US" sz="33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Sandbox steps out</a:t>
            </a:r>
            <a:endParaRPr lang="en-US" sz="3300" dirty="0"/>
          </a:p>
        </p:txBody>
      </p:sp>
      <p:sp>
        <p:nvSpPr>
          <p:cNvPr id="22" name="Text 18"/>
          <p:cNvSpPr/>
          <p:nvPr/>
        </p:nvSpPr>
        <p:spPr>
          <a:xfrm>
            <a:off x="7229401" y="4869135"/>
            <a:ext cx="4424648" cy="645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5B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Trialled inside the route to live, then removed and kept separate - now a CLI-only instance.</a:t>
            </a:r>
            <a:endParaRPr lang="en-US" sz="1650" dirty="0"/>
          </a:p>
        </p:txBody>
      </p:sp>
      <p:sp>
        <p:nvSpPr>
          <p:cNvPr id="23" name="Shape 19"/>
          <p:cNvSpPr/>
          <p:nvPr/>
        </p:nvSpPr>
        <p:spPr>
          <a:xfrm>
            <a:off x="12296701" y="3865215"/>
            <a:ext cx="5076899" cy="3374603"/>
          </a:xfrm>
          <a:prstGeom prst="roundRect">
            <a:avLst>
              <a:gd name="adj" fmla="val 3387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12687226" y="4255740"/>
            <a:ext cx="4424725" cy="9600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4902"/>
              </a:lnSpc>
              <a:buNone/>
            </a:pPr>
            <a:r>
              <a:rPr lang="en-US" sz="33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 Please → CalVer</a:t>
            </a:r>
            <a:endParaRPr lang="en-US" sz="3300" dirty="0"/>
          </a:p>
        </p:txBody>
      </p:sp>
      <p:sp>
        <p:nvSpPr>
          <p:cNvPr id="25" name="Text 21"/>
          <p:cNvSpPr/>
          <p:nvPr/>
        </p:nvSpPr>
        <p:spPr>
          <a:xfrm>
            <a:off x="12687226" y="5330130"/>
            <a:ext cx="4424725" cy="1557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5B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release cadence was hard to sustain and releases needed clearer tracking. Calendar versioning instead: when a flood of tickets lands on 1 December, the matching release and its change history are findable by date.</a:t>
            </a:r>
            <a:endParaRPr lang="en-US" sz="16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8105120" cy="7086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103"/>
              </a:lnSpc>
              <a:buNone/>
            </a:pPr>
            <a:r>
              <a:rPr lang="en-US" sz="4800" b="1" dirty="0">
                <a:solidFill>
                  <a:srgbClr val="0F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numbers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914400" y="1965945"/>
            <a:ext cx="5232350" cy="3035573"/>
          </a:xfrm>
          <a:prstGeom prst="roundRect">
            <a:avLst>
              <a:gd name="adj" fmla="val 3765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81183" y="2585070"/>
            <a:ext cx="4898783" cy="13791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97103"/>
              </a:lnSpc>
              <a:buNone/>
            </a:pPr>
            <a:r>
              <a:rPr lang="en-US" sz="4800" dirty="0">
                <a:solidFill>
                  <a:srgbClr val="0F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Apr 2025 → May 2026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720" y="4078560"/>
            <a:ext cx="5231710" cy="3419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5B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development to v1.0.0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6527750" y="1965945"/>
            <a:ext cx="5232425" cy="3035573"/>
          </a:xfrm>
          <a:prstGeom prst="roundRect">
            <a:avLst>
              <a:gd name="adj" fmla="val 3765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28067" y="2585070"/>
            <a:ext cx="5231792" cy="9600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96800"/>
              </a:lnSpc>
              <a:buNone/>
            </a:pPr>
            <a:r>
              <a:rPr lang="en-US" sz="6600" dirty="0">
                <a:solidFill>
                  <a:srgbClr val="0F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14+</a:t>
            </a:r>
            <a:endParaRPr lang="en-US" sz="6600" dirty="0"/>
          </a:p>
        </p:txBody>
      </p:sp>
      <p:sp>
        <p:nvSpPr>
          <p:cNvPr id="8" name="Text 6"/>
          <p:cNvSpPr/>
          <p:nvPr/>
        </p:nvSpPr>
        <p:spPr>
          <a:xfrm>
            <a:off x="6528067" y="3659460"/>
            <a:ext cx="5231792" cy="3419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5B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contributors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12141175" y="1965945"/>
            <a:ext cx="5232350" cy="3035573"/>
          </a:xfrm>
          <a:prstGeom prst="roundRect">
            <a:avLst>
              <a:gd name="adj" fmla="val 3765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141495" y="2585070"/>
            <a:ext cx="5231710" cy="9600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96800"/>
              </a:lnSpc>
              <a:buNone/>
            </a:pPr>
            <a:r>
              <a:rPr lang="en-US" sz="6600" dirty="0">
                <a:solidFill>
                  <a:srgbClr val="0F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526+</a:t>
            </a:r>
            <a:endParaRPr lang="en-US" sz="6600" dirty="0"/>
          </a:p>
        </p:txBody>
      </p:sp>
      <p:sp>
        <p:nvSpPr>
          <p:cNvPr id="11" name="Text 9"/>
          <p:cNvSpPr/>
          <p:nvPr/>
        </p:nvSpPr>
        <p:spPr>
          <a:xfrm>
            <a:off x="12141495" y="3659460"/>
            <a:ext cx="5231710" cy="3419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5B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requests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914400" y="5382518"/>
            <a:ext cx="5232350" cy="2616473"/>
          </a:xfrm>
          <a:prstGeom prst="roundRect">
            <a:avLst>
              <a:gd name="adj" fmla="val 4368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720" y="6001643"/>
            <a:ext cx="5231710" cy="9600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96800"/>
              </a:lnSpc>
              <a:buNone/>
            </a:pPr>
            <a:r>
              <a:rPr lang="en-US" sz="6600" dirty="0">
                <a:solidFill>
                  <a:srgbClr val="0F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1,902</a:t>
            </a:r>
            <a:endParaRPr lang="en-US" sz="6600" dirty="0"/>
          </a:p>
        </p:txBody>
      </p:sp>
      <p:sp>
        <p:nvSpPr>
          <p:cNvPr id="14" name="Text 12"/>
          <p:cNvSpPr/>
          <p:nvPr/>
        </p:nvSpPr>
        <p:spPr>
          <a:xfrm>
            <a:off x="914720" y="7076033"/>
            <a:ext cx="5231710" cy="3419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5B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commits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6527750" y="5382518"/>
            <a:ext cx="5232425" cy="2616473"/>
          </a:xfrm>
          <a:prstGeom prst="roundRect">
            <a:avLst>
              <a:gd name="adj" fmla="val 4368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28067" y="6001643"/>
            <a:ext cx="5231792" cy="9600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96800"/>
              </a:lnSpc>
              <a:buNone/>
            </a:pPr>
            <a:r>
              <a:rPr lang="en-US" sz="6600" dirty="0">
                <a:solidFill>
                  <a:srgbClr val="0F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127</a:t>
            </a:r>
            <a:endParaRPr lang="en-US" sz="6600" dirty="0"/>
          </a:p>
        </p:txBody>
      </p:sp>
      <p:sp>
        <p:nvSpPr>
          <p:cNvPr id="17" name="Text 15"/>
          <p:cNvSpPr/>
          <p:nvPr/>
        </p:nvSpPr>
        <p:spPr>
          <a:xfrm>
            <a:off x="6528067" y="7076033"/>
            <a:ext cx="5231792" cy="3419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5B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files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2141175" y="5382518"/>
            <a:ext cx="5232350" cy="2616473"/>
          </a:xfrm>
          <a:prstGeom prst="roundRect">
            <a:avLst>
              <a:gd name="adj" fmla="val 4368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141495" y="6001643"/>
            <a:ext cx="5231710" cy="9600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96800"/>
              </a:lnSpc>
              <a:buNone/>
            </a:pPr>
            <a:r>
              <a:rPr lang="en-US" sz="6600" dirty="0">
                <a:solidFill>
                  <a:srgbClr val="0F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19,000+</a:t>
            </a:r>
            <a:endParaRPr lang="en-US" sz="6600" dirty="0"/>
          </a:p>
        </p:txBody>
      </p:sp>
      <p:sp>
        <p:nvSpPr>
          <p:cNvPr id="20" name="Text 18"/>
          <p:cNvSpPr/>
          <p:nvPr/>
        </p:nvSpPr>
        <p:spPr>
          <a:xfrm>
            <a:off x="12141495" y="7076033"/>
            <a:ext cx="5231710" cy="3419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5B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lines of HCL</a:t>
            </a:r>
            <a:endParaRPr lang="en-US" sz="16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98443" y="3038549"/>
            <a:ext cx="6291114" cy="1912441"/>
          </a:xfrm>
          <a:prstGeom prst="roundRect">
            <a:avLst>
              <a:gd name="adj" fmla="val 5977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36568" y="3276674"/>
            <a:ext cx="6003597" cy="1474291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06A4D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"jamfpro_category" "managed" {</a:t>
            </a:r>
            <a:endParaRPr lang="en-US" sz="1950" dirty="0"/>
          </a:p>
          <a:p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06A4D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for_each = local.categories</a:t>
            </a:r>
            <a:endParaRPr lang="en-US" sz="1950" dirty="0"/>
          </a:p>
          <a:p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06A4D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= each.key</a:t>
            </a:r>
            <a:endParaRPr lang="en-US" sz="1950" dirty="0"/>
          </a:p>
          <a:p>
            <a:pPr algn="l" indent="0" marL="0">
              <a:lnSpc>
                <a:spcPct val="127797"/>
              </a:lnSpc>
              <a:buNone/>
            </a:pPr>
            <a:r>
              <a:rPr lang="en-US" sz="1950" dirty="0">
                <a:solidFill>
                  <a:srgbClr val="006A4D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6760369" y="5331991"/>
            <a:ext cx="4767262" cy="9600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96800"/>
              </a:lnSpc>
              <a:buNone/>
            </a:pPr>
            <a:r>
              <a:rPr lang="en-US" sz="6600" b="1" dirty="0">
                <a:solidFill>
                  <a:srgbClr val="0F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935615" y="6787381"/>
            <a:ext cx="16416769" cy="499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96800"/>
              </a:lnSpc>
              <a:buNone/>
            </a:pPr>
            <a:r>
              <a:rPr lang="en-US" sz="3300" dirty="0">
                <a:solidFill>
                  <a:srgbClr val="0F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Clicks to Code - Migrating Jamf Pro to Terraform at Lloyds Banking Group</a:t>
            </a:r>
            <a:endParaRPr lang="en-US" sz="3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80561" y="4217715"/>
            <a:ext cx="1926878" cy="7086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97103"/>
              </a:lnSpc>
              <a:buNone/>
            </a:pPr>
            <a:r>
              <a:rPr lang="en-US" sz="4800" b="1" dirty="0">
                <a:solidFill>
                  <a:srgbClr val="0F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Links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5900354" y="5269260"/>
            <a:ext cx="4718395" cy="3419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5B6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Provider: deploymenttheory/jamfpro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10715885" y="5269260"/>
            <a:ext cx="1526604" cy="3419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27600"/>
              </a:lnSpc>
              <a:buNone/>
            </a:pPr>
            <a:r>
              <a:rPr lang="en-US" sz="1650" dirty="0">
                <a:solidFill>
                  <a:srgbClr val="5B6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SDK: jamfpy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175674" y="5801692"/>
            <a:ext cx="3936653" cy="267593"/>
          </a:xfrm>
          <a:prstGeom prst="roundRect">
            <a:avLst>
              <a:gd name="adj" fmla="val 21357"/>
            </a:avLst>
          </a:prstGeom>
          <a:solidFill>
            <a:srgbClr val="9C6B00">
              <a:alpha val="12000"/>
            </a:srgbClr>
          </a:solidFill>
          <a:ln w="9525">
            <a:solidFill>
              <a:srgbClr val="9A6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40766" y="5811217"/>
            <a:ext cx="4006468" cy="28664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ctr" indent="0" marL="0">
              <a:lnSpc>
                <a:spcPct val="127317"/>
              </a:lnSpc>
              <a:buNone/>
            </a:pPr>
            <a:r>
              <a:rPr lang="en-US" sz="1350" dirty="0">
                <a:solidFill>
                  <a:srgbClr val="9A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TODO Q12: URLs, contact and socials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2026-08-13T14:01:26Z</dcterms:created>
  <dcterms:modified xsi:type="dcterms:W3CDTF">2026-08-13T14:01:26Z</dcterms:modified>
</cp:coreProperties>
</file>